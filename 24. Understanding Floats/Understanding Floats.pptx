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7A8"/>
    <a:srgbClr val="7987B3"/>
    <a:srgbClr val="5C6DA2"/>
    <a:srgbClr val="D19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84A7-8D85-49B1-9F89-B59A545DF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E120B-A5D8-4B28-9F6F-8AE6BDBB7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2471C-866F-4E86-BC8D-162F3E368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508CB-FBC6-4576-931C-F80C44F7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036E7-75AE-4860-B92C-6924927F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2FD93-E318-4CFE-8C77-F9E45460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E34EF-BF52-4F17-8275-012C2C811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91C90-387C-41F1-9BA9-1B9658C9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C727A-AF69-412C-A4C2-AD888719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A83E2-CED5-46D1-A015-4A110354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0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96BB-7F01-4BF8-95B6-3869164DD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AC089-01EB-43C3-A24E-072BB0D81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A416B-EE79-4A15-AA6E-220B17CC2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15747-EE7E-40BB-B4EF-6518A4D3E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194D8-5EDB-41CD-9128-F4BB96435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6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FB77-B63B-43FB-88C1-6B392EAA3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F0268-B764-48EB-8CDE-6A4B0757C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CC58E-F3F8-42BB-8F7B-C7DD1CDD1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BF52C-9051-445F-8D87-D2605A39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144A1-DFE8-4672-AE55-6DFA1ECDF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1A91D-DED0-4D44-8E95-7FDEB43C0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7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93AA4-007C-46F9-BA65-8CFC0259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EDFEC-8BE0-4654-B137-382682CD4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A7865-403E-4A0F-A772-222C0F722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100041-12BC-4100-A6BF-1C726EF15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B75C1-A152-4120-91FC-E85992F6C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B4938-9506-4723-99B1-FA725CE6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B07A7-700D-4FD9-A272-FDE566D8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E02D6-4DAA-4681-98FB-61EC0FB8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7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35B3-06C6-4632-B7B6-46F2A791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646EE4-3064-443D-BC19-418B5433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F46F5-EFDB-454B-860B-F37991C23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BA530-CA5C-4CD0-B923-CB38674C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4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B2970-C116-41FB-BA21-F3F6A112E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BF79D8-9AA6-4AA3-9C73-14EF4486C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88733-3DCD-441F-B833-8F642156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4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1DF29-DA10-47AC-8308-184AE84E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1E590-E9E3-49EB-AE38-DA2D45173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F8254-C898-4D11-B26B-B0B8638FE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9EA66-B034-4BAB-963F-1E326E28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3D8A1-105C-484E-9861-4BDF5EE6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5E4CB-CF56-4C03-BA96-F3D81319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3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218D-229F-442C-8A9D-F76072C60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5D1F8-606A-49F6-A69B-AF1D430CB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8605C-E7C0-41B1-A2BC-4E2BE6CF7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518E4-F071-4DEF-8D52-79400C52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CC6D3-0BBD-4D00-BE18-D7348C1A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98555-2318-4210-B0CC-46898ECA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07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D29E-2712-4835-9BAC-409127BD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878CB-202E-4197-8B1B-120AA6F53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0B5D7-7A69-4FE7-B33E-FFAD1483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32836-A209-42D0-A2FA-4D26BAB82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E41EF-B087-455C-86A3-CCDD08E7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0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7991C-F1E5-4F8A-83AC-7C3388A6B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7FB48-C4FC-4B7B-AC7C-22D88FCD8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73142-8F4E-448F-9C30-FE276119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47665-1AB7-4386-8223-7014A0C6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C7BD8-B0B8-4C92-AC05-8BF6D87C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2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7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04D64-DBCB-4401-889F-7A95CBEF5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A735D-CBD2-4F2D-B599-ECE343DC5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FC188-2CA4-42CC-870B-94EDD7F2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FB59E-2523-47E7-B8AE-DBDE8D2A65B3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39F6A-F10C-4B6B-82ED-D27B594DB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EF86-A338-4506-8E97-B2154E7A5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F110C-38ED-46A0-B097-2E173FF2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35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F14F34-E527-4178-875E-AC26F42A92B8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74BE5-195D-4BF2-A898-4B6C8F849142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5B0C32C-F945-4363-8782-B86C47578E62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5189C-05E7-4204-AE02-46C1937BE5DE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B396B-A5B0-4FAF-B67A-7A763F5851B2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Floats</a:t>
            </a:r>
          </a:p>
        </p:txBody>
      </p:sp>
    </p:spTree>
    <p:extLst>
      <p:ext uri="{BB962C8B-B14F-4D97-AF65-F5344CB8AC3E}">
        <p14:creationId xmlns:p14="http://schemas.microsoft.com/office/powerpoint/2010/main" val="99584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D037E1-AC85-45C5-BDF3-8BD3304A5EBA}"/>
              </a:ext>
            </a:extLst>
          </p:cNvPr>
          <p:cNvSpPr/>
          <p:nvPr/>
        </p:nvSpPr>
        <p:spPr>
          <a:xfrm>
            <a:off x="492370" y="323557"/>
            <a:ext cx="8088922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Controlling Parameters: Counters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E66342-FE27-4EE9-85A5-AE60108D407F}"/>
              </a:ext>
            </a:extLst>
          </p:cNvPr>
          <p:cNvSpPr/>
          <p:nvPr/>
        </p:nvSpPr>
        <p:spPr>
          <a:xfrm>
            <a:off x="1139483" y="1336431"/>
            <a:ext cx="9903655" cy="137863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accent1"/>
                </a:solidFill>
                <a:cs typeface="Times New Roman" panose="02020603050405020304" pitchFamily="18" charset="0"/>
              </a:rPr>
              <a:t>topnumber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Counter specifying the maximum number of floats allowed at the top of the page (the default number is 2). This can be changed with the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setcounter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11C82E-434A-4845-95AA-AC45DC4DCF5E}"/>
              </a:ext>
            </a:extLst>
          </p:cNvPr>
          <p:cNvSpPr/>
          <p:nvPr/>
        </p:nvSpPr>
        <p:spPr>
          <a:xfrm>
            <a:off x="1139483" y="3176956"/>
            <a:ext cx="9903655" cy="137863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accent1"/>
                </a:solidFill>
              </a:rPr>
              <a:t>bottomnumber</a:t>
            </a: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specifying the maximum number of floats allowed at the bottom of the page (the default number is 1). This can be changed with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setcounter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9935EF-8478-417D-9D7E-B49F04466496}"/>
              </a:ext>
            </a:extLst>
          </p:cNvPr>
          <p:cNvSpPr/>
          <p:nvPr/>
        </p:nvSpPr>
        <p:spPr>
          <a:xfrm>
            <a:off x="1139483" y="5017482"/>
            <a:ext cx="9903655" cy="137863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accent1"/>
                </a:solidFill>
              </a:rPr>
              <a:t>totalnumber</a:t>
            </a:r>
            <a:r>
              <a:rPr lang="en-US" sz="2400" dirty="0"/>
              <a:t> Counter specifying the maximum number of floats allowed on a single page (the default number is 3). This can be changed with </a:t>
            </a:r>
            <a:r>
              <a:rPr lang="en-US" sz="2400" dirty="0">
                <a:solidFill>
                  <a:schemeClr val="accent2"/>
                </a:solidFill>
              </a:rPr>
              <a:t>\</a:t>
            </a:r>
            <a:r>
              <a:rPr lang="en-US" sz="2400" dirty="0" err="1">
                <a:solidFill>
                  <a:schemeClr val="accent2"/>
                </a:solidFill>
              </a:rPr>
              <a:t>setcounter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37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67F62A-09D6-452D-8B29-297B5C2D2D0F}"/>
              </a:ext>
            </a:extLst>
          </p:cNvPr>
          <p:cNvSpPr/>
          <p:nvPr/>
        </p:nvSpPr>
        <p:spPr>
          <a:xfrm>
            <a:off x="253220" y="119575"/>
            <a:ext cx="8088922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Controlling Parameters: Commands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C8A946-3D6F-4BD8-8194-6CB2402EF6A5}"/>
              </a:ext>
            </a:extLst>
          </p:cNvPr>
          <p:cNvSpPr/>
          <p:nvPr/>
        </p:nvSpPr>
        <p:spPr>
          <a:xfrm>
            <a:off x="1195753" y="998807"/>
            <a:ext cx="9636369" cy="133643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\</a:t>
            </a:r>
            <a:r>
              <a:rPr lang="en-US" sz="2400" dirty="0" err="1">
                <a:solidFill>
                  <a:schemeClr val="accent2"/>
                </a:solidFill>
              </a:rPr>
              <a:t>topfraction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fraction of the page that can be occupied by floats at the top of the page (e.g., 0.2 means 20% can be floats; the default value is 0.7). This can be changed with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renewcommand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02AC49-BFF8-419D-9385-12AAAB2836D2}"/>
              </a:ext>
            </a:extLst>
          </p:cNvPr>
          <p:cNvGrpSpPr/>
          <p:nvPr/>
        </p:nvGrpSpPr>
        <p:grpSpPr>
          <a:xfrm>
            <a:off x="3685735" y="2482950"/>
            <a:ext cx="4656407" cy="4255475"/>
            <a:chOff x="3685735" y="2482950"/>
            <a:chExt cx="4656407" cy="42554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8691D7A-B604-4A49-A58E-4CCA1061D838}"/>
                </a:ext>
              </a:extLst>
            </p:cNvPr>
            <p:cNvSpPr/>
            <p:nvPr/>
          </p:nvSpPr>
          <p:spPr>
            <a:xfrm>
              <a:off x="3685735" y="2482950"/>
              <a:ext cx="4656407" cy="4255475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DFE2A5-CCE3-4E5C-904C-13DA0D5567A3}"/>
                </a:ext>
              </a:extLst>
            </p:cNvPr>
            <p:cNvSpPr/>
            <p:nvPr/>
          </p:nvSpPr>
          <p:spPr>
            <a:xfrm>
              <a:off x="4656406" y="2588455"/>
              <a:ext cx="2602523" cy="3066757"/>
            </a:xfrm>
            <a:prstGeom prst="rect">
              <a:avLst/>
            </a:prstGeom>
            <a:ln w="38100"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70 % of max. float area allowed by default from top.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308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8DD66D-15BA-48CA-9D7D-82F8AFC7196E}"/>
              </a:ext>
            </a:extLst>
          </p:cNvPr>
          <p:cNvSpPr/>
          <p:nvPr/>
        </p:nvSpPr>
        <p:spPr>
          <a:xfrm>
            <a:off x="253220" y="119575"/>
            <a:ext cx="8088922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Controlling Parameters: Commands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6E1C6E-E66B-411B-81A9-F2764B070335}"/>
              </a:ext>
            </a:extLst>
          </p:cNvPr>
          <p:cNvGrpSpPr/>
          <p:nvPr/>
        </p:nvGrpSpPr>
        <p:grpSpPr>
          <a:xfrm>
            <a:off x="1195753" y="998807"/>
            <a:ext cx="9636369" cy="5739618"/>
            <a:chOff x="1195753" y="998807"/>
            <a:chExt cx="9636369" cy="573961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E79D0BB-8813-4681-8264-A6D5DB8C53E0}"/>
                </a:ext>
              </a:extLst>
            </p:cNvPr>
            <p:cNvSpPr/>
            <p:nvPr/>
          </p:nvSpPr>
          <p:spPr>
            <a:xfrm>
              <a:off x="1195753" y="998807"/>
              <a:ext cx="9636369" cy="133643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2"/>
                  </a:solidFill>
                </a:rPr>
                <a:t>\</a:t>
              </a:r>
              <a:r>
                <a:rPr lang="en-US" sz="2400" dirty="0" err="1">
                  <a:solidFill>
                    <a:schemeClr val="accent2"/>
                  </a:solidFill>
                </a:rPr>
                <a:t>bottomfraction</a:t>
              </a:r>
              <a:r>
                <a:rPr lang="en-US" sz="2400" dirty="0">
                  <a:solidFill>
                    <a:schemeClr val="accent2"/>
                  </a:solidFill>
                </a:rPr>
                <a:t>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Maximum fraction of the page that can be occupied by floats at the bottom of the page (the default value is 0.3). This can be changed with </a:t>
              </a:r>
              <a:r>
                <a:rPr lang="en-US" sz="24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\</a:t>
              </a:r>
              <a:r>
                <a:rPr lang="en-US" sz="2400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renewcommand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38053E3-6EA9-4DCB-8697-49B66DDB8FE3}"/>
                </a:ext>
              </a:extLst>
            </p:cNvPr>
            <p:cNvGrpSpPr/>
            <p:nvPr/>
          </p:nvGrpSpPr>
          <p:grpSpPr>
            <a:xfrm>
              <a:off x="3685735" y="2482950"/>
              <a:ext cx="4656407" cy="4255475"/>
              <a:chOff x="3685735" y="2482950"/>
              <a:chExt cx="4656407" cy="425547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22A4DB7-C8D0-48F4-9F9B-B7693273F263}"/>
                  </a:ext>
                </a:extLst>
              </p:cNvPr>
              <p:cNvSpPr/>
              <p:nvPr/>
            </p:nvSpPr>
            <p:spPr>
              <a:xfrm>
                <a:off x="3685735" y="2482950"/>
                <a:ext cx="4656407" cy="425547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C94AE81-1E89-4398-92CD-E55677676774}"/>
                  </a:ext>
                </a:extLst>
              </p:cNvPr>
              <p:cNvSpPr/>
              <p:nvPr/>
            </p:nvSpPr>
            <p:spPr>
              <a:xfrm>
                <a:off x="4009292" y="5247249"/>
                <a:ext cx="3995225" cy="1076177"/>
              </a:xfrm>
              <a:prstGeom prst="rect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30 % of max. float area allowed by default at the bottom.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827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081BA4-F5A4-457E-8967-08F1A9F70CC1}"/>
              </a:ext>
            </a:extLst>
          </p:cNvPr>
          <p:cNvSpPr/>
          <p:nvPr/>
        </p:nvSpPr>
        <p:spPr>
          <a:xfrm>
            <a:off x="253220" y="119575"/>
            <a:ext cx="8088922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Controlling Parameters: Commands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197ED93-989E-42A9-BFB9-DFF1A2029BEA}"/>
              </a:ext>
            </a:extLst>
          </p:cNvPr>
          <p:cNvGrpSpPr/>
          <p:nvPr/>
        </p:nvGrpSpPr>
        <p:grpSpPr>
          <a:xfrm>
            <a:off x="1195753" y="998807"/>
            <a:ext cx="9636369" cy="5739618"/>
            <a:chOff x="1195753" y="998807"/>
            <a:chExt cx="9636369" cy="573961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0A8D674-329F-46E7-82CF-333F37EA2E74}"/>
                </a:ext>
              </a:extLst>
            </p:cNvPr>
            <p:cNvSpPr/>
            <p:nvPr/>
          </p:nvSpPr>
          <p:spPr>
            <a:xfrm>
              <a:off x="1195753" y="998807"/>
              <a:ext cx="9636369" cy="133643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2"/>
                  </a:solidFill>
                </a:rPr>
                <a:t>\</a:t>
              </a:r>
              <a:r>
                <a:rPr lang="en-US" sz="2400" dirty="0" err="1">
                  <a:solidFill>
                    <a:schemeClr val="accent2"/>
                  </a:solidFill>
                </a:rPr>
                <a:t>textfraction</a:t>
              </a:r>
              <a:r>
                <a:rPr lang="en-US" sz="2400" dirty="0">
                  <a:solidFill>
                    <a:schemeClr val="accent2"/>
                  </a:solidFill>
                </a:rPr>
                <a:t> 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 fraction of a normal page that </a:t>
              </a:r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must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be occupied by text (the default value is 0.2). This can be changed with </a:t>
              </a:r>
              <a:r>
                <a:rPr lang="en-US" sz="24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\</a:t>
              </a:r>
              <a:r>
                <a:rPr lang="en-US" sz="2400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renewcommand</a:t>
              </a:r>
              <a:r>
                <a:rPr lang="en-US" sz="2400" dirty="0"/>
                <a:t>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5A4DFD-2367-4EF1-9D41-E9FD97B06581}"/>
                </a:ext>
              </a:extLst>
            </p:cNvPr>
            <p:cNvGrpSpPr/>
            <p:nvPr/>
          </p:nvGrpSpPr>
          <p:grpSpPr>
            <a:xfrm>
              <a:off x="3685735" y="2482950"/>
              <a:ext cx="4656407" cy="4255475"/>
              <a:chOff x="3685735" y="2482950"/>
              <a:chExt cx="4656407" cy="425547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987DCC-AB82-4EF1-B960-95A5E9B4A7B5}"/>
                  </a:ext>
                </a:extLst>
              </p:cNvPr>
              <p:cNvSpPr/>
              <p:nvPr/>
            </p:nvSpPr>
            <p:spPr>
              <a:xfrm>
                <a:off x="3685735" y="2482950"/>
                <a:ext cx="4656407" cy="425547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3FFCDCB-0239-4087-AF0D-82F2BF3E9DF0}"/>
                  </a:ext>
                </a:extLst>
              </p:cNvPr>
              <p:cNvSpPr/>
              <p:nvPr/>
            </p:nvSpPr>
            <p:spPr>
              <a:xfrm>
                <a:off x="4438354" y="3854548"/>
                <a:ext cx="3151165" cy="1153550"/>
              </a:xfrm>
              <a:prstGeom prst="rect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20 % of min. text area that must exist in each page.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125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C9BFE9-C046-427D-9AAD-F326CA5C9EF0}"/>
              </a:ext>
            </a:extLst>
          </p:cNvPr>
          <p:cNvSpPr/>
          <p:nvPr/>
        </p:nvSpPr>
        <p:spPr>
          <a:xfrm>
            <a:off x="675252" y="471268"/>
            <a:ext cx="8088922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Controlling Parameters: Commands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2AF5CD-1AF6-466E-AEEF-8D10AE1C8D6C}"/>
              </a:ext>
            </a:extLst>
          </p:cNvPr>
          <p:cNvSpPr/>
          <p:nvPr/>
        </p:nvSpPr>
        <p:spPr>
          <a:xfrm>
            <a:off x="1575582" y="1842868"/>
            <a:ext cx="2912012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\</a:t>
            </a:r>
            <a:r>
              <a:rPr lang="en-US" sz="3200" dirty="0" err="1"/>
              <a:t>floatsep</a:t>
            </a:r>
            <a:endParaRPr lang="en-US" sz="32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C9891F2-0233-45B2-8FC0-8A79C3DC7089}"/>
              </a:ext>
            </a:extLst>
          </p:cNvPr>
          <p:cNvSpPr/>
          <p:nvPr/>
        </p:nvSpPr>
        <p:spPr>
          <a:xfrm>
            <a:off x="5162842" y="2110153"/>
            <a:ext cx="2541566" cy="253219"/>
          </a:xfrm>
          <a:prstGeom prst="rightArrow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584CB7-E3B3-4636-980F-354D83EEF253}"/>
              </a:ext>
            </a:extLst>
          </p:cNvPr>
          <p:cNvGrpSpPr/>
          <p:nvPr/>
        </p:nvGrpSpPr>
        <p:grpSpPr>
          <a:xfrm>
            <a:off x="8806378" y="1589649"/>
            <a:ext cx="562706" cy="1505243"/>
            <a:chOff x="8806378" y="1589649"/>
            <a:chExt cx="562706" cy="15052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12AAAF-0888-4866-B4AC-D688F81DC2A3}"/>
                </a:ext>
              </a:extLst>
            </p:cNvPr>
            <p:cNvSpPr/>
            <p:nvPr/>
          </p:nvSpPr>
          <p:spPr>
            <a:xfrm>
              <a:off x="8806378" y="1589649"/>
              <a:ext cx="562706" cy="52050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F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859A38-95D4-47B3-9C20-4176A13A24DD}"/>
                </a:ext>
              </a:extLst>
            </p:cNvPr>
            <p:cNvSpPr/>
            <p:nvPr/>
          </p:nvSpPr>
          <p:spPr>
            <a:xfrm>
              <a:off x="8806378" y="2574388"/>
              <a:ext cx="562706" cy="52050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F</a:t>
              </a:r>
            </a:p>
          </p:txBody>
        </p:sp>
        <p:sp>
          <p:nvSpPr>
            <p:cNvPr id="9" name="Arrow: Up-Down 8">
              <a:extLst>
                <a:ext uri="{FF2B5EF4-FFF2-40B4-BE49-F238E27FC236}">
                  <a16:creationId xmlns:a16="http://schemas.microsoft.com/office/drawing/2014/main" id="{9D8E4BD7-DB73-43D3-AADD-D556EA07681E}"/>
                </a:ext>
              </a:extLst>
            </p:cNvPr>
            <p:cNvSpPr/>
            <p:nvPr/>
          </p:nvSpPr>
          <p:spPr>
            <a:xfrm>
              <a:off x="8924195" y="2110153"/>
              <a:ext cx="346414" cy="464235"/>
            </a:xfrm>
            <a:prstGeom prst="upDownArrow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A777AB-12CC-4DFA-A47B-DE4DF33514AB}"/>
              </a:ext>
            </a:extLst>
          </p:cNvPr>
          <p:cNvSpPr/>
          <p:nvPr/>
        </p:nvSpPr>
        <p:spPr>
          <a:xfrm>
            <a:off x="1575582" y="3763109"/>
            <a:ext cx="2912012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\</a:t>
            </a:r>
            <a:r>
              <a:rPr lang="en-US" sz="3200" dirty="0" err="1"/>
              <a:t>textfloatsep</a:t>
            </a:r>
            <a:endParaRPr lang="en-US" sz="320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7626AB8-A013-439D-A05C-55E4F663863B}"/>
              </a:ext>
            </a:extLst>
          </p:cNvPr>
          <p:cNvSpPr/>
          <p:nvPr/>
        </p:nvSpPr>
        <p:spPr>
          <a:xfrm>
            <a:off x="5162842" y="4030394"/>
            <a:ext cx="2541566" cy="253219"/>
          </a:xfrm>
          <a:prstGeom prst="rightArrow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25D0503-2946-4C77-A375-4AB98C4C9501}"/>
              </a:ext>
            </a:extLst>
          </p:cNvPr>
          <p:cNvGrpSpPr/>
          <p:nvPr/>
        </p:nvGrpSpPr>
        <p:grpSpPr>
          <a:xfrm>
            <a:off x="8806378" y="3509890"/>
            <a:ext cx="562706" cy="1505243"/>
            <a:chOff x="8806378" y="1589649"/>
            <a:chExt cx="562706" cy="150524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D500DA-357D-4436-B113-6778822F8246}"/>
                </a:ext>
              </a:extLst>
            </p:cNvPr>
            <p:cNvSpPr/>
            <p:nvPr/>
          </p:nvSpPr>
          <p:spPr>
            <a:xfrm>
              <a:off x="8806378" y="1589649"/>
              <a:ext cx="562706" cy="52050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F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53746F6-4897-4194-BCCE-AD010D05D91E}"/>
                </a:ext>
              </a:extLst>
            </p:cNvPr>
            <p:cNvSpPr/>
            <p:nvPr/>
          </p:nvSpPr>
          <p:spPr>
            <a:xfrm>
              <a:off x="8806378" y="2574388"/>
              <a:ext cx="562706" cy="52050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T</a:t>
              </a:r>
            </a:p>
          </p:txBody>
        </p:sp>
        <p:sp>
          <p:nvSpPr>
            <p:cNvPr id="16" name="Arrow: Up-Down 15">
              <a:extLst>
                <a:ext uri="{FF2B5EF4-FFF2-40B4-BE49-F238E27FC236}">
                  <a16:creationId xmlns:a16="http://schemas.microsoft.com/office/drawing/2014/main" id="{358C3FA1-A09F-4287-B998-44E6A690293D}"/>
                </a:ext>
              </a:extLst>
            </p:cNvPr>
            <p:cNvSpPr/>
            <p:nvPr/>
          </p:nvSpPr>
          <p:spPr>
            <a:xfrm>
              <a:off x="8924195" y="2110153"/>
              <a:ext cx="346414" cy="464235"/>
            </a:xfrm>
            <a:prstGeom prst="upDownArrow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A34768-3069-42CD-BA51-375286CBC07B}"/>
              </a:ext>
            </a:extLst>
          </p:cNvPr>
          <p:cNvSpPr/>
          <p:nvPr/>
        </p:nvSpPr>
        <p:spPr>
          <a:xfrm>
            <a:off x="1575582" y="5479368"/>
            <a:ext cx="2912012" cy="7315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\</a:t>
            </a:r>
            <a:r>
              <a:rPr lang="en-US" sz="3200" dirty="0" err="1"/>
              <a:t>intextsep</a:t>
            </a:r>
            <a:endParaRPr lang="en-US" sz="32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2207E0F-4149-422D-AB6F-47E73523E0AC}"/>
              </a:ext>
            </a:extLst>
          </p:cNvPr>
          <p:cNvSpPr/>
          <p:nvPr/>
        </p:nvSpPr>
        <p:spPr>
          <a:xfrm>
            <a:off x="5162842" y="5746653"/>
            <a:ext cx="2541566" cy="253219"/>
          </a:xfrm>
          <a:prstGeom prst="rightArrow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800D8F-AA4A-4525-B708-DC489649F845}"/>
              </a:ext>
            </a:extLst>
          </p:cNvPr>
          <p:cNvSpPr/>
          <p:nvPr/>
        </p:nvSpPr>
        <p:spPr>
          <a:xfrm>
            <a:off x="8525022" y="5380894"/>
            <a:ext cx="1069144" cy="100583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Text….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</a:rPr>
              <a:t>Float[h]</a:t>
            </a:r>
          </a:p>
          <a:p>
            <a:pPr algn="ctr"/>
            <a:r>
              <a:rPr lang="en-US" sz="2000" dirty="0"/>
              <a:t>Text….</a:t>
            </a:r>
          </a:p>
        </p:txBody>
      </p:sp>
    </p:spTree>
    <p:extLst>
      <p:ext uri="{BB962C8B-B14F-4D97-AF65-F5344CB8AC3E}">
        <p14:creationId xmlns:p14="http://schemas.microsoft.com/office/powerpoint/2010/main" val="32938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  <p:bldP spid="17" grpId="0" animBg="1"/>
      <p:bldP spid="18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841F8B-03EE-43BB-A8B7-9D72B694C435}"/>
              </a:ext>
            </a:extLst>
          </p:cNvPr>
          <p:cNvSpPr/>
          <p:nvPr/>
        </p:nvSpPr>
        <p:spPr>
          <a:xfrm>
            <a:off x="368103" y="214532"/>
            <a:ext cx="4780672" cy="633047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Placement Regime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0C4B7-105B-4825-A0C2-873B2771A1EB}"/>
              </a:ext>
            </a:extLst>
          </p:cNvPr>
          <p:cNvSpPr/>
          <p:nvPr/>
        </p:nvSpPr>
        <p:spPr>
          <a:xfrm>
            <a:off x="5479364" y="208566"/>
            <a:ext cx="1111348" cy="63304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[</a:t>
            </a:r>
            <a:r>
              <a:rPr lang="en-US" sz="3200" dirty="0" err="1"/>
              <a:t>ht</a:t>
            </a:r>
            <a:r>
              <a:rPr lang="en-US" sz="3200" dirty="0"/>
              <a:t>]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3AC12A-7D83-4D5E-A6A3-FF07B6517466}"/>
              </a:ext>
            </a:extLst>
          </p:cNvPr>
          <p:cNvGrpSpPr/>
          <p:nvPr/>
        </p:nvGrpSpPr>
        <p:grpSpPr>
          <a:xfrm>
            <a:off x="6865032" y="133762"/>
            <a:ext cx="3615397" cy="524970"/>
            <a:chOff x="3974123" y="1458574"/>
            <a:chExt cx="3615397" cy="524970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56AFA457-F942-4BA5-9956-97794370E966}"/>
                </a:ext>
              </a:extLst>
            </p:cNvPr>
            <p:cNvSpPr/>
            <p:nvPr/>
          </p:nvSpPr>
          <p:spPr>
            <a:xfrm>
              <a:off x="3974123" y="1772529"/>
              <a:ext cx="3615397" cy="211015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29E6F7-B91E-4002-B721-471534F5003F}"/>
                </a:ext>
              </a:extLst>
            </p:cNvPr>
            <p:cNvSpPr txBox="1"/>
            <p:nvPr/>
          </p:nvSpPr>
          <p:spPr>
            <a:xfrm>
              <a:off x="4797082" y="1458574"/>
              <a:ext cx="19694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Is the same as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72B3815-0BB9-4020-A6C5-D4B6F9E9E2E8}"/>
              </a:ext>
            </a:extLst>
          </p:cNvPr>
          <p:cNvSpPr/>
          <p:nvPr/>
        </p:nvSpPr>
        <p:spPr>
          <a:xfrm>
            <a:off x="10827434" y="208566"/>
            <a:ext cx="1111348" cy="63304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[</a:t>
            </a:r>
            <a:r>
              <a:rPr lang="en-US" sz="3200" dirty="0" err="1"/>
              <a:t>th</a:t>
            </a:r>
            <a:r>
              <a:rPr lang="en-US" sz="3200" dirty="0"/>
              <a:t>]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B40110-C823-4BAD-8309-0455B68DF00F}"/>
              </a:ext>
            </a:extLst>
          </p:cNvPr>
          <p:cNvSpPr/>
          <p:nvPr/>
        </p:nvSpPr>
        <p:spPr>
          <a:xfrm>
            <a:off x="956602" y="1302733"/>
            <a:ext cx="8384345" cy="94253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!</a:t>
            </a:r>
            <a:r>
              <a:rPr lang="en-US" sz="2400" dirty="0"/>
              <a:t> : Tells LaTeX to Ignore most Restrictions made by the Previous Controlling Parameters.   </a:t>
            </a:r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750953E6-A902-42EF-8DDA-148ECE4506FB}"/>
              </a:ext>
            </a:extLst>
          </p:cNvPr>
          <p:cNvSpPr/>
          <p:nvPr/>
        </p:nvSpPr>
        <p:spPr>
          <a:xfrm rot="5400000">
            <a:off x="1842866" y="2006120"/>
            <a:ext cx="618980" cy="1097277"/>
          </a:xfrm>
          <a:prstGeom prst="bentUpArrow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3E951B-1AE0-4B2C-880F-DCCA92C584C7}"/>
              </a:ext>
            </a:extLst>
          </p:cNvPr>
          <p:cNvSpPr/>
          <p:nvPr/>
        </p:nvSpPr>
        <p:spPr>
          <a:xfrm>
            <a:off x="2792436" y="2435180"/>
            <a:ext cx="1111348" cy="63304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[!t]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DFF37F-ED0A-47BE-ABC1-C5799AB5329C}"/>
              </a:ext>
            </a:extLst>
          </p:cNvPr>
          <p:cNvSpPr/>
          <p:nvPr/>
        </p:nvSpPr>
        <p:spPr>
          <a:xfrm>
            <a:off x="4248443" y="2435180"/>
            <a:ext cx="5092504" cy="63304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\</a:t>
            </a:r>
            <a:r>
              <a:rPr lang="en-US" sz="2400" dirty="0" err="1"/>
              <a:t>topfraction</a:t>
            </a:r>
            <a:r>
              <a:rPr lang="en-US" sz="2400" dirty="0"/>
              <a:t> Max. Size will be Ignored.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9BD7E13-1193-4676-A144-B65E8D901242}"/>
              </a:ext>
            </a:extLst>
          </p:cNvPr>
          <p:cNvSpPr/>
          <p:nvPr/>
        </p:nvSpPr>
        <p:spPr>
          <a:xfrm>
            <a:off x="1111346" y="3473250"/>
            <a:ext cx="8384344" cy="63304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h : indicates that the float is allowed to be placed in-line (“here”).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06E13A3-B992-4AAE-9095-1514807B3080}"/>
              </a:ext>
            </a:extLst>
          </p:cNvPr>
          <p:cNvSpPr/>
          <p:nvPr/>
        </p:nvSpPr>
        <p:spPr>
          <a:xfrm>
            <a:off x="1111346" y="4341418"/>
            <a:ext cx="8384344" cy="63304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t : try to place it on the top of the current page.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3FFFDEF-FFFA-4E4E-916E-73E6E7AD274D}"/>
              </a:ext>
            </a:extLst>
          </p:cNvPr>
          <p:cNvSpPr/>
          <p:nvPr/>
        </p:nvSpPr>
        <p:spPr>
          <a:xfrm>
            <a:off x="1111346" y="5209586"/>
            <a:ext cx="8384344" cy="63304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b : try to place it on the bottom of the current page.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044D6F4-C568-47CF-8243-B9A0520C23A3}"/>
              </a:ext>
            </a:extLst>
          </p:cNvPr>
          <p:cNvSpPr/>
          <p:nvPr/>
        </p:nvSpPr>
        <p:spPr>
          <a:xfrm>
            <a:off x="1111346" y="6010421"/>
            <a:ext cx="8546122" cy="63304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p : try to place it on a float page when the current page has ended.</a:t>
            </a:r>
          </a:p>
        </p:txBody>
      </p:sp>
    </p:spTree>
    <p:extLst>
      <p:ext uri="{BB962C8B-B14F-4D97-AF65-F5344CB8AC3E}">
        <p14:creationId xmlns:p14="http://schemas.microsoft.com/office/powerpoint/2010/main" val="134084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963E20-3A58-45CA-827C-609BB00D1F79}"/>
              </a:ext>
            </a:extLst>
          </p:cNvPr>
          <p:cNvSpPr/>
          <p:nvPr/>
        </p:nvSpPr>
        <p:spPr>
          <a:xfrm>
            <a:off x="590843" y="309490"/>
            <a:ext cx="8848579" cy="647113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Default Placing Sequence and General Scheme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BD7BD8-5366-44DD-95F9-11C54A600433}"/>
              </a:ext>
            </a:extLst>
          </p:cNvPr>
          <p:cNvSpPr/>
          <p:nvPr/>
        </p:nvSpPr>
        <p:spPr>
          <a:xfrm>
            <a:off x="5190978" y="1305944"/>
            <a:ext cx="1055077" cy="64711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[</a:t>
            </a:r>
            <a:r>
              <a:rPr lang="en-US" sz="3200" dirty="0" err="1"/>
              <a:t>tbp</a:t>
            </a:r>
            <a:r>
              <a:rPr lang="en-US" sz="3200" dirty="0"/>
              <a:t>]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592FF0-845F-42A7-B0C6-C999E43B60DA}"/>
              </a:ext>
            </a:extLst>
          </p:cNvPr>
          <p:cNvSpPr/>
          <p:nvPr/>
        </p:nvSpPr>
        <p:spPr>
          <a:xfrm>
            <a:off x="1181686" y="1305945"/>
            <a:ext cx="2405575" cy="647113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Default Specifier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404AA2-6290-4291-93AC-892DC81CA994}"/>
              </a:ext>
            </a:extLst>
          </p:cNvPr>
          <p:cNvSpPr/>
          <p:nvPr/>
        </p:nvSpPr>
        <p:spPr>
          <a:xfrm>
            <a:off x="3784209" y="1531026"/>
            <a:ext cx="1111347" cy="196950"/>
          </a:xfrm>
          <a:prstGeom prst="rightArrow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0EE573-0CB7-48E3-9C55-A5250E5E3314}"/>
              </a:ext>
            </a:extLst>
          </p:cNvPr>
          <p:cNvGrpSpPr/>
          <p:nvPr/>
        </p:nvGrpSpPr>
        <p:grpSpPr>
          <a:xfrm>
            <a:off x="1603717" y="2419636"/>
            <a:ext cx="9664505" cy="647114"/>
            <a:chOff x="1631852" y="2166422"/>
            <a:chExt cx="9664505" cy="64711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720D09B-9C30-48DD-BDF6-941489EFDA8B}"/>
                </a:ext>
              </a:extLst>
            </p:cNvPr>
            <p:cNvSpPr/>
            <p:nvPr/>
          </p:nvSpPr>
          <p:spPr>
            <a:xfrm>
              <a:off x="2586111" y="2166423"/>
              <a:ext cx="8710246" cy="6471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It looks for a </a:t>
              </a:r>
              <a:r>
                <a:rPr lang="en-US" sz="2400" dirty="0">
                  <a:solidFill>
                    <a:srgbClr val="FF0000"/>
                  </a:solidFill>
                </a:rPr>
                <a:t>!</a:t>
              </a:r>
              <a:r>
                <a:rPr lang="en-US" sz="2400" dirty="0"/>
                <a:t> to determine whether to obey the restrictions or not.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E9B1953-9011-4AC7-9C5F-5766AF56FDDF}"/>
                </a:ext>
              </a:extLst>
            </p:cNvPr>
            <p:cNvSpPr/>
            <p:nvPr/>
          </p:nvSpPr>
          <p:spPr>
            <a:xfrm>
              <a:off x="1631852" y="2166422"/>
              <a:ext cx="633046" cy="64711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F83B86-9A3C-4941-919F-1C9D9046C802}"/>
              </a:ext>
            </a:extLst>
          </p:cNvPr>
          <p:cNvGrpSpPr/>
          <p:nvPr/>
        </p:nvGrpSpPr>
        <p:grpSpPr>
          <a:xfrm>
            <a:off x="1603717" y="3416092"/>
            <a:ext cx="9664505" cy="647114"/>
            <a:chOff x="1631852" y="3162878"/>
            <a:chExt cx="9664505" cy="64711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FEF70F3-FD9B-45BC-A6CF-6AE16552501B}"/>
                </a:ext>
              </a:extLst>
            </p:cNvPr>
            <p:cNvSpPr/>
            <p:nvPr/>
          </p:nvSpPr>
          <p:spPr>
            <a:xfrm>
              <a:off x="2586111" y="3162879"/>
              <a:ext cx="8710246" cy="6471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It looks for a </a:t>
              </a:r>
              <a:r>
                <a:rPr lang="en-US" sz="2400" dirty="0">
                  <a:solidFill>
                    <a:srgbClr val="FF0000"/>
                  </a:solidFill>
                </a:rPr>
                <a:t>h</a:t>
              </a:r>
              <a:r>
                <a:rPr lang="en-US" sz="2400" dirty="0"/>
                <a:t> and try to place it “here” if a sufficient space exists.      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7CC8570-31CE-438D-B075-3B125EDC887D}"/>
                </a:ext>
              </a:extLst>
            </p:cNvPr>
            <p:cNvSpPr/>
            <p:nvPr/>
          </p:nvSpPr>
          <p:spPr>
            <a:xfrm>
              <a:off x="1631852" y="3162878"/>
              <a:ext cx="633046" cy="64711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2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A6E759-E0E7-4EB0-8218-81FEBA9E94C1}"/>
              </a:ext>
            </a:extLst>
          </p:cNvPr>
          <p:cNvGrpSpPr/>
          <p:nvPr/>
        </p:nvGrpSpPr>
        <p:grpSpPr>
          <a:xfrm>
            <a:off x="1603717" y="4412547"/>
            <a:ext cx="9664505" cy="647114"/>
            <a:chOff x="1631852" y="4159333"/>
            <a:chExt cx="9664505" cy="64711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A6568FA-335C-47AC-867A-9BB7867035E8}"/>
                </a:ext>
              </a:extLst>
            </p:cNvPr>
            <p:cNvSpPr/>
            <p:nvPr/>
          </p:nvSpPr>
          <p:spPr>
            <a:xfrm>
              <a:off x="2586111" y="4159334"/>
              <a:ext cx="8710246" cy="6471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It looks for a </a:t>
              </a:r>
              <a:r>
                <a:rPr lang="en-US" sz="2400" dirty="0">
                  <a:solidFill>
                    <a:srgbClr val="FF0000"/>
                  </a:solidFill>
                </a:rPr>
                <a:t>t</a:t>
              </a:r>
              <a:r>
                <a:rPr lang="en-US" sz="2400" dirty="0"/>
                <a:t> and try to place it at the top if there is no restriction.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1D6F2E1-7577-4B82-BE05-BD8952F7C8E7}"/>
                </a:ext>
              </a:extLst>
            </p:cNvPr>
            <p:cNvSpPr/>
            <p:nvPr/>
          </p:nvSpPr>
          <p:spPr>
            <a:xfrm>
              <a:off x="1631852" y="4159333"/>
              <a:ext cx="633046" cy="64711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3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2A9CB4-6576-4BAC-85A3-067F45FE69A3}"/>
              </a:ext>
            </a:extLst>
          </p:cNvPr>
          <p:cNvGrpSpPr/>
          <p:nvPr/>
        </p:nvGrpSpPr>
        <p:grpSpPr>
          <a:xfrm>
            <a:off x="1603717" y="5409001"/>
            <a:ext cx="9664505" cy="647114"/>
            <a:chOff x="1631852" y="5155787"/>
            <a:chExt cx="9664505" cy="64711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26120B6-09CE-44D7-8D84-B61AAE97E4AE}"/>
                </a:ext>
              </a:extLst>
            </p:cNvPr>
            <p:cNvSpPr/>
            <p:nvPr/>
          </p:nvSpPr>
          <p:spPr>
            <a:xfrm>
              <a:off x="2586111" y="5155788"/>
              <a:ext cx="8710246" cy="6471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Finally it looks for </a:t>
              </a:r>
              <a:r>
                <a:rPr lang="en-US" sz="2400" dirty="0">
                  <a:solidFill>
                    <a:srgbClr val="FF0000"/>
                  </a:solidFill>
                </a:rPr>
                <a:t>b</a:t>
              </a:r>
              <a:r>
                <a:rPr lang="en-US" sz="2400" dirty="0"/>
                <a:t> for bottom placement if there is no restriction.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48937DA-031A-46A1-8C02-F39E24C7DE68}"/>
                </a:ext>
              </a:extLst>
            </p:cNvPr>
            <p:cNvSpPr/>
            <p:nvPr/>
          </p:nvSpPr>
          <p:spPr>
            <a:xfrm>
              <a:off x="1631852" y="5155787"/>
              <a:ext cx="633046" cy="64711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644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4EF55D-A19D-4F2F-ACF7-822670FBFD68}"/>
              </a:ext>
            </a:extLst>
          </p:cNvPr>
          <p:cNvSpPr/>
          <p:nvPr/>
        </p:nvSpPr>
        <p:spPr>
          <a:xfrm>
            <a:off x="590844" y="309490"/>
            <a:ext cx="4923692" cy="647113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Placement Algorithm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D769D1-45D5-4F08-8559-BAC279B119B4}"/>
              </a:ext>
            </a:extLst>
          </p:cNvPr>
          <p:cNvGrpSpPr/>
          <p:nvPr/>
        </p:nvGrpSpPr>
        <p:grpSpPr>
          <a:xfrm>
            <a:off x="1402081" y="1376276"/>
            <a:ext cx="9584787" cy="647113"/>
            <a:chOff x="1402081" y="1631850"/>
            <a:chExt cx="9584787" cy="64711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9AD2748-D435-40C2-9769-4B7688FD3895}"/>
                </a:ext>
              </a:extLst>
            </p:cNvPr>
            <p:cNvSpPr/>
            <p:nvPr/>
          </p:nvSpPr>
          <p:spPr>
            <a:xfrm>
              <a:off x="1402081" y="1631850"/>
              <a:ext cx="731520" cy="6471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1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23DE0F4-AF93-4082-A951-63727860782A}"/>
                </a:ext>
              </a:extLst>
            </p:cNvPr>
            <p:cNvSpPr/>
            <p:nvPr/>
          </p:nvSpPr>
          <p:spPr>
            <a:xfrm>
              <a:off x="2486464" y="1631850"/>
              <a:ext cx="8500404" cy="6471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It tries to place the float according to the previous order.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756AA8-EB3B-46BC-93E2-D92CAD88FBED}"/>
              </a:ext>
            </a:extLst>
          </p:cNvPr>
          <p:cNvGrpSpPr/>
          <p:nvPr/>
        </p:nvGrpSpPr>
        <p:grpSpPr>
          <a:xfrm>
            <a:off x="1402081" y="3391473"/>
            <a:ext cx="9584787" cy="902687"/>
            <a:chOff x="1402081" y="3770137"/>
            <a:chExt cx="9584787" cy="90268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77E2083-3A0F-403E-BA66-72A67EF68945}"/>
                </a:ext>
              </a:extLst>
            </p:cNvPr>
            <p:cNvSpPr/>
            <p:nvPr/>
          </p:nvSpPr>
          <p:spPr>
            <a:xfrm>
              <a:off x="1402081" y="3770138"/>
              <a:ext cx="731520" cy="90268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3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6DFFB89-4242-4C46-AD5A-42CB5BC42995}"/>
                </a:ext>
              </a:extLst>
            </p:cNvPr>
            <p:cNvSpPr/>
            <p:nvPr/>
          </p:nvSpPr>
          <p:spPr>
            <a:xfrm>
              <a:off x="2486464" y="3770137"/>
              <a:ext cx="8500404" cy="90268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Once the running page is finished, emptying the holding queue starts.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999344-1D35-4E83-8DCF-99AB22E1AA39}"/>
              </a:ext>
            </a:extLst>
          </p:cNvPr>
          <p:cNvGrpSpPr/>
          <p:nvPr/>
        </p:nvGrpSpPr>
        <p:grpSpPr>
          <a:xfrm>
            <a:off x="1402081" y="2382142"/>
            <a:ext cx="9584787" cy="647113"/>
            <a:chOff x="1402081" y="2764305"/>
            <a:chExt cx="9584787" cy="64711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8865662-EB17-4BB4-B1BF-342C128B825D}"/>
                </a:ext>
              </a:extLst>
            </p:cNvPr>
            <p:cNvSpPr/>
            <p:nvPr/>
          </p:nvSpPr>
          <p:spPr>
            <a:xfrm>
              <a:off x="1402081" y="2764305"/>
              <a:ext cx="731520" cy="6471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2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3979B57-175C-4125-B9F8-ABCA15B24999}"/>
                </a:ext>
              </a:extLst>
            </p:cNvPr>
            <p:cNvSpPr/>
            <p:nvPr/>
          </p:nvSpPr>
          <p:spPr>
            <a:xfrm>
              <a:off x="2486464" y="2764305"/>
              <a:ext cx="8500404" cy="64711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If the process failed, the float is put in a “holding queue”.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1B0F329D-0B83-4BF8-B775-D9056219BE61}"/>
              </a:ext>
            </a:extLst>
          </p:cNvPr>
          <p:cNvSpPr/>
          <p:nvPr/>
        </p:nvSpPr>
        <p:spPr>
          <a:xfrm>
            <a:off x="3094892" y="4485834"/>
            <a:ext cx="7891976" cy="39565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(p) is searched for in the specifiers of the floats in the queue.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8A5A6E-4D0B-49BD-8A29-78071033D5CC}"/>
              </a:ext>
            </a:extLst>
          </p:cNvPr>
          <p:cNvSpPr/>
          <p:nvPr/>
        </p:nvSpPr>
        <p:spPr>
          <a:xfrm>
            <a:off x="3094892" y="5073163"/>
            <a:ext cx="7891976" cy="68931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That’s to produce a float page trying to git rid of queue’s floats.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6849F6-66F1-446D-88BF-D5AFCC449FA6}"/>
              </a:ext>
            </a:extLst>
          </p:cNvPr>
          <p:cNvSpPr/>
          <p:nvPr/>
        </p:nvSpPr>
        <p:spPr>
          <a:xfrm>
            <a:off x="3094892" y="5954154"/>
            <a:ext cx="7891976" cy="68931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Float pages creation continues until end of the floats in the queue.</a:t>
            </a:r>
          </a:p>
        </p:txBody>
      </p:sp>
    </p:spTree>
    <p:extLst>
      <p:ext uri="{BB962C8B-B14F-4D97-AF65-F5344CB8AC3E}">
        <p14:creationId xmlns:p14="http://schemas.microsoft.com/office/powerpoint/2010/main" val="124993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33E5EB-ACFD-4E47-9E12-8B2136E2316A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75290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570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43</cp:revision>
  <dcterms:created xsi:type="dcterms:W3CDTF">2022-03-28T18:55:52Z</dcterms:created>
  <dcterms:modified xsi:type="dcterms:W3CDTF">2022-08-26T23:15:31Z</dcterms:modified>
</cp:coreProperties>
</file>
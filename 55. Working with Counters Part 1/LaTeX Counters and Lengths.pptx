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E8CB0-6C2A-5707-BE3B-49E21CFE64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A048AA-4A92-1D7C-2266-8572F6739F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BE48D-E58B-17A8-967D-B194FAA02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B8BE8-C539-4ED5-87C4-17A74F850BA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E27C9-27DA-83A4-92F9-380082D7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D6116-DB28-8392-A0F5-5E542D857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AC3D5-3B88-4C16-8A23-CAEDABE43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2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6521E-4C40-48FC-7951-86AFA20A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8876B-60E9-3D5B-8FA3-CE46C2D2B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AE0FD-3D6F-910B-1E89-8873D7A83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B8BE8-C539-4ED5-87C4-17A74F850BA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C9B27-B186-DFE6-7853-3D28DAFAA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BEC58-825A-CDE6-4181-F46421269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AC3D5-3B88-4C16-8A23-CAEDABE43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2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C9ED9-04FD-1F18-B1F7-7B20D6EDD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E6337-F1FF-82A9-214F-A11CF2BDE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EC970-E4B8-0A7A-F855-A747AAEE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B8BE8-C539-4ED5-87C4-17A74F850BA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338A6-1D3D-9A81-8144-BF4CDE87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A8F23-E762-84C8-22AD-9756B648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AC3D5-3B88-4C16-8A23-CAEDABE43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69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7EA2C-8140-EB8B-7841-A76714FCF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6D28A-18E2-3247-69CB-ED7784A1C8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41B693-56ED-68A7-FF27-A7AEA8113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9320E-B403-DC8A-F5B2-DB1706262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B8BE8-C539-4ED5-87C4-17A74F850BA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74B1B-73CD-158F-8839-2CFD9B41E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77B34-EA14-6F94-4387-FEE44DFDE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AC3D5-3B88-4C16-8A23-CAEDABE43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41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A09B1-DCEA-3D05-536C-28FD4A39D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FF04A-EF9A-F976-0372-B13D8B886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CD8E4D-AF7A-4C6B-A624-96ED3C834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F76944-AB2E-D035-F779-B8208535C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A0C744-C321-3099-0999-5A8C4743DD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4746C0-FF87-8E82-78F5-A78885233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B8BE8-C539-4ED5-87C4-17A74F850BA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622376-AEA0-F4ED-7A5F-2C2164363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7B3924-7F8F-F200-FB34-1E7D24E03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AC3D5-3B88-4C16-8A23-CAEDABE43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218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B3F84-34BE-EA2A-5C6B-E1B927CBE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756E1F-E413-1B5A-8E55-A19AD4FD2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B8BE8-C539-4ED5-87C4-17A74F850BA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FC275E-2DE5-C1F4-F7E3-511842137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7F0BB7-FE4C-B906-4400-F2C8D5ECA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AC3D5-3B88-4C16-8A23-CAEDABE43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315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44EFAA-05C3-8368-4924-39F361563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B8BE8-C539-4ED5-87C4-17A74F850BA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64FD47-47CD-E759-3BCF-AA2DAA9E0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BDB31-17BD-DE51-1CB3-AACF2457F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AC3D5-3B88-4C16-8A23-CAEDABE43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701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6B2BC-DFF2-33E3-09DB-73A95A04C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C5659-3668-8D0D-181A-B399744A5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8B776-0DDD-7293-204D-5A7D192E0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316C0-7ED1-DD3A-757A-C2DF34849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B8BE8-C539-4ED5-87C4-17A74F850BA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505E3-C7AE-8274-0E77-F0B377F41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9C5AB-7C52-A583-C9B0-2ED109264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AC3D5-3B88-4C16-8A23-CAEDABE43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24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C684D-BFD8-4295-FB1C-5241F9286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A273C2-920F-F160-FCB9-45968EFAED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24EE34-513F-74D0-861D-9774ED934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63E9F-1C69-14D2-75E8-8064B925B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B8BE8-C539-4ED5-87C4-17A74F850BA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93730-FFA8-9766-9C98-191928872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5D7E0-C6AF-CA4D-CE23-B61BB20CC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AC3D5-3B88-4C16-8A23-CAEDABE43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0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C1EB5-9CDD-4D1A-4B99-3F39222FA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93721-F2EB-D7E3-A56E-93EED39E7C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3FCAE-F3CC-9E96-3579-4D5491E91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B8BE8-C539-4ED5-87C4-17A74F850BA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6DDC9-C151-81BE-B86C-1AE27B4DA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E61BC-33E7-09FC-F9DE-5EF386394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AC3D5-3B88-4C16-8A23-CAEDABE43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629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6BFA2C-855B-C011-A3C4-685229AF20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92FA8E-EC15-A708-0154-B7AB68AE8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F01A5-E163-8865-DE93-0724B856C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B8BE8-C539-4ED5-87C4-17A74F850BA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CD7C0-F943-D387-B700-04A35D997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17FC5-6B36-8102-7DA3-F7ACB0328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AC3D5-3B88-4C16-8A23-CAEDABE43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431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9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F95544-798F-D603-3214-61371519D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7747E-8356-1C84-4FC2-9A8BDBC79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7588B-21BF-8A66-9821-F5987E534B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B8BE8-C539-4ED5-87C4-17A74F850BA3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09F95-8D70-DEF0-9416-39CFBE0803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4FEA0-DE7B-F69D-874E-0ED84FB83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AC3D5-3B88-4C16-8A23-CAEDABE43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5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exfaq.org/FAQ-noline" TargetMode="External"/><Relationship Id="rId2" Type="http://schemas.openxmlformats.org/officeDocument/2006/relationships/hyperlink" Target="https://tex.stackexchange.com/questions/22852/function-and-usage-of-leavevmod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4117E7-F4A0-9CE1-55B0-14A9D14C9987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852ABA-A7B4-A26D-B6DA-41B17DF478BE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D6E9D2A-1729-27A5-40E2-84A141A4C6D5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D42252-6CA0-245B-144B-919838E751F4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776A03-CBC2-E909-D270-27892421428E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LaTeX Counters and Lengths</a:t>
            </a:r>
          </a:p>
        </p:txBody>
      </p:sp>
    </p:spTree>
    <p:extLst>
      <p:ext uri="{BB962C8B-B14F-4D97-AF65-F5344CB8AC3E}">
        <p14:creationId xmlns:p14="http://schemas.microsoft.com/office/powerpoint/2010/main" val="298401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737E3ED-4969-FFC6-6C27-3199D008E5B6}"/>
              </a:ext>
            </a:extLst>
          </p:cNvPr>
          <p:cNvSpPr/>
          <p:nvPr/>
        </p:nvSpPr>
        <p:spPr>
          <a:xfrm>
            <a:off x="492370" y="323556"/>
            <a:ext cx="3573193" cy="70338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Counters Scope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ADB803-68C6-45DA-5E9F-253591D15662}"/>
              </a:ext>
            </a:extLst>
          </p:cNvPr>
          <p:cNvSpPr/>
          <p:nvPr/>
        </p:nvSpPr>
        <p:spPr>
          <a:xfrm>
            <a:off x="1645921" y="1364565"/>
            <a:ext cx="9340947" cy="1885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FF3FEB-667A-E764-FEDD-C008C7125708}"/>
              </a:ext>
            </a:extLst>
          </p:cNvPr>
          <p:cNvSpPr txBox="1"/>
          <p:nvPr/>
        </p:nvSpPr>
        <p:spPr>
          <a:xfrm>
            <a:off x="1765495" y="1491493"/>
            <a:ext cx="906186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Söhne"/>
              </a:rPr>
              <a:t>Counters are used to keep track of various numeric values, such as page numbers, section numbers, equation numbers, etc.</a:t>
            </a:r>
            <a:endParaRPr lang="en-US" sz="2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They are global variables (of type integers) for counting objects.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We can define new counters for our sake, and modify their values in different ways throughout the document.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36A39E-52DC-B82C-E932-B9FA04E00C13}"/>
              </a:ext>
            </a:extLst>
          </p:cNvPr>
          <p:cNvGrpSpPr/>
          <p:nvPr/>
        </p:nvGrpSpPr>
        <p:grpSpPr>
          <a:xfrm>
            <a:off x="446234" y="3601328"/>
            <a:ext cx="3784209" cy="2947183"/>
            <a:chOff x="787791" y="3587261"/>
            <a:chExt cx="3784209" cy="2947183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04A3FBF-113C-75C4-7F98-52200716B52D}"/>
                </a:ext>
              </a:extLst>
            </p:cNvPr>
            <p:cNvSpPr/>
            <p:nvPr/>
          </p:nvSpPr>
          <p:spPr>
            <a:xfrm>
              <a:off x="787791" y="3615397"/>
              <a:ext cx="3784209" cy="291904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F3C36E-AC19-B23A-76E4-3777D1FB9B04}"/>
                </a:ext>
              </a:extLst>
            </p:cNvPr>
            <p:cNvGrpSpPr/>
            <p:nvPr/>
          </p:nvGrpSpPr>
          <p:grpSpPr>
            <a:xfrm>
              <a:off x="1413801" y="3587261"/>
              <a:ext cx="2475913" cy="830997"/>
              <a:chOff x="1413801" y="3587261"/>
              <a:chExt cx="2475913" cy="830997"/>
            </a:xfrm>
          </p:grpSpPr>
          <p:sp>
            <p:nvSpPr>
              <p:cNvPr id="8" name="Rectangle: Top Corners Rounded 7">
                <a:extLst>
                  <a:ext uri="{FF2B5EF4-FFF2-40B4-BE49-F238E27FC236}">
                    <a16:creationId xmlns:a16="http://schemas.microsoft.com/office/drawing/2014/main" id="{B1B37ED5-BFC8-5B51-DFFD-E3CFA85C5893}"/>
                  </a:ext>
                </a:extLst>
              </p:cNvPr>
              <p:cNvSpPr/>
              <p:nvPr/>
            </p:nvSpPr>
            <p:spPr>
              <a:xfrm rot="10800000">
                <a:off x="1470071" y="3615395"/>
                <a:ext cx="2419643" cy="767189"/>
              </a:xfrm>
              <a:prstGeom prst="round2Same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1B775F7-F5EE-9F6B-57D2-FF91C580DDBC}"/>
                  </a:ext>
                </a:extLst>
              </p:cNvPr>
              <p:cNvSpPr txBox="1"/>
              <p:nvPr/>
            </p:nvSpPr>
            <p:spPr>
              <a:xfrm>
                <a:off x="1413801" y="3587261"/>
                <a:ext cx="247591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New Ordered Structures</a:t>
                </a: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5CA7E51-8693-93DA-AA38-F4C0643349D4}"/>
              </a:ext>
            </a:extLst>
          </p:cNvPr>
          <p:cNvSpPr txBox="1"/>
          <p:nvPr/>
        </p:nvSpPr>
        <p:spPr>
          <a:xfrm>
            <a:off x="731658" y="4460459"/>
            <a:ext cx="31652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For example: new numbered theorem-like environments that use a dedicated formatted counter.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CC3CF0C-965D-F1AC-C15E-50C1D20F889C}"/>
              </a:ext>
            </a:extLst>
          </p:cNvPr>
          <p:cNvGrpSpPr/>
          <p:nvPr/>
        </p:nvGrpSpPr>
        <p:grpSpPr>
          <a:xfrm>
            <a:off x="4526693" y="3587261"/>
            <a:ext cx="3491138" cy="2947183"/>
            <a:chOff x="787791" y="3587261"/>
            <a:chExt cx="3784209" cy="2947183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2B100B4-0FCD-BA3A-FD79-B2569A0B5BF5}"/>
                </a:ext>
              </a:extLst>
            </p:cNvPr>
            <p:cNvSpPr/>
            <p:nvPr/>
          </p:nvSpPr>
          <p:spPr>
            <a:xfrm>
              <a:off x="787791" y="3615397"/>
              <a:ext cx="3784209" cy="291904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131DBB2-3412-D568-B2DF-3D07B54B6E4B}"/>
                </a:ext>
              </a:extLst>
            </p:cNvPr>
            <p:cNvGrpSpPr/>
            <p:nvPr/>
          </p:nvGrpSpPr>
          <p:grpSpPr>
            <a:xfrm>
              <a:off x="1413801" y="3587261"/>
              <a:ext cx="2563557" cy="830997"/>
              <a:chOff x="1413801" y="3587261"/>
              <a:chExt cx="2563557" cy="830997"/>
            </a:xfrm>
          </p:grpSpPr>
          <p:sp>
            <p:nvSpPr>
              <p:cNvPr id="16" name="Rectangle: Top Corners Rounded 15">
                <a:extLst>
                  <a:ext uri="{FF2B5EF4-FFF2-40B4-BE49-F238E27FC236}">
                    <a16:creationId xmlns:a16="http://schemas.microsoft.com/office/drawing/2014/main" id="{5E7B0AD7-2F9B-4B6B-8486-D366549E8DC7}"/>
                  </a:ext>
                </a:extLst>
              </p:cNvPr>
              <p:cNvSpPr/>
              <p:nvPr/>
            </p:nvSpPr>
            <p:spPr>
              <a:xfrm rot="10800000">
                <a:off x="1470071" y="3615395"/>
                <a:ext cx="2419643" cy="767189"/>
              </a:xfrm>
              <a:prstGeom prst="round2Same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60E908B-F5D0-867E-8D2F-423FC00829BB}"/>
                  </a:ext>
                </a:extLst>
              </p:cNvPr>
              <p:cNvSpPr txBox="1"/>
              <p:nvPr/>
            </p:nvSpPr>
            <p:spPr>
              <a:xfrm>
                <a:off x="1413801" y="3587261"/>
                <a:ext cx="256355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Custom Enumerated Lists </a:t>
                </a: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C8083EB-DB53-7646-0F04-DB635EA79EEA}"/>
              </a:ext>
            </a:extLst>
          </p:cNvPr>
          <p:cNvGrpSpPr/>
          <p:nvPr/>
        </p:nvGrpSpPr>
        <p:grpSpPr>
          <a:xfrm>
            <a:off x="5200341" y="4585893"/>
            <a:ext cx="2143834" cy="1688123"/>
            <a:chOff x="5337092" y="4557932"/>
            <a:chExt cx="1893702" cy="168812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6BC8DA3-D36D-9F95-E068-0DCFFCB3F966}"/>
                </a:ext>
              </a:extLst>
            </p:cNvPr>
            <p:cNvSpPr/>
            <p:nvPr/>
          </p:nvSpPr>
          <p:spPr>
            <a:xfrm>
              <a:off x="5337092" y="4557932"/>
              <a:ext cx="1893702" cy="168812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D69D44C-35BC-5A72-3EB4-63B420556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05840" y="4611025"/>
              <a:ext cx="1781175" cy="1609725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A538E2C-8430-FEF2-FB76-24E2B8A9BCEE}"/>
              </a:ext>
            </a:extLst>
          </p:cNvPr>
          <p:cNvGrpSpPr/>
          <p:nvPr/>
        </p:nvGrpSpPr>
        <p:grpSpPr>
          <a:xfrm>
            <a:off x="8359362" y="3615395"/>
            <a:ext cx="3491138" cy="2919049"/>
            <a:chOff x="787791" y="3615395"/>
            <a:chExt cx="3784209" cy="2919049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E98AEF0F-48CB-1ED4-280D-BF9C75DE16A9}"/>
                </a:ext>
              </a:extLst>
            </p:cNvPr>
            <p:cNvSpPr/>
            <p:nvPr/>
          </p:nvSpPr>
          <p:spPr>
            <a:xfrm>
              <a:off x="787791" y="3615397"/>
              <a:ext cx="3784209" cy="291904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B0299F6-3FB1-B094-2811-5701CDF413C2}"/>
                </a:ext>
              </a:extLst>
            </p:cNvPr>
            <p:cNvGrpSpPr/>
            <p:nvPr/>
          </p:nvGrpSpPr>
          <p:grpSpPr>
            <a:xfrm>
              <a:off x="1387646" y="3615395"/>
              <a:ext cx="2563557" cy="562710"/>
              <a:chOff x="1387646" y="3615395"/>
              <a:chExt cx="2563557" cy="562710"/>
            </a:xfrm>
          </p:grpSpPr>
          <p:sp>
            <p:nvSpPr>
              <p:cNvPr id="25" name="Rectangle: Top Corners Rounded 24">
                <a:extLst>
                  <a:ext uri="{FF2B5EF4-FFF2-40B4-BE49-F238E27FC236}">
                    <a16:creationId xmlns:a16="http://schemas.microsoft.com/office/drawing/2014/main" id="{2ACCB917-418A-2727-FEFE-C553E236AB18}"/>
                  </a:ext>
                </a:extLst>
              </p:cNvPr>
              <p:cNvSpPr/>
              <p:nvPr/>
            </p:nvSpPr>
            <p:spPr>
              <a:xfrm rot="10800000">
                <a:off x="1470071" y="3615395"/>
                <a:ext cx="2419643" cy="562710"/>
              </a:xfrm>
              <a:prstGeom prst="round2Same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EA556A4-0C77-C498-8360-68700BAAC462}"/>
                  </a:ext>
                </a:extLst>
              </p:cNvPr>
              <p:cNvSpPr txBox="1"/>
              <p:nvPr/>
            </p:nvSpPr>
            <p:spPr>
              <a:xfrm>
                <a:off x="1387646" y="3629462"/>
                <a:ext cx="25635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Looping</a:t>
                </a:r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D6E7AF5-04DE-E1A3-CED7-7D4B989CD827}"/>
              </a:ext>
            </a:extLst>
          </p:cNvPr>
          <p:cNvSpPr txBox="1"/>
          <p:nvPr/>
        </p:nvSpPr>
        <p:spPr>
          <a:xfrm>
            <a:off x="8655555" y="4343289"/>
            <a:ext cx="32367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Like “While” statement that operates based on the value of a counter while some related condition remains true.</a:t>
            </a:r>
          </a:p>
        </p:txBody>
      </p:sp>
    </p:spTree>
    <p:extLst>
      <p:ext uri="{BB962C8B-B14F-4D97-AF65-F5344CB8AC3E}">
        <p14:creationId xmlns:p14="http://schemas.microsoft.com/office/powerpoint/2010/main" val="3184934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1231125-9335-F5E8-FEAE-A3D30B6B88CA}"/>
              </a:ext>
            </a:extLst>
          </p:cNvPr>
          <p:cNvSpPr/>
          <p:nvPr/>
        </p:nvSpPr>
        <p:spPr>
          <a:xfrm>
            <a:off x="633047" y="295422"/>
            <a:ext cx="4121834" cy="73152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effectLst/>
              </a:rPr>
              <a:t>About \</a:t>
            </a:r>
            <a:r>
              <a:rPr lang="en-US" sz="3200" dirty="0" err="1">
                <a:solidFill>
                  <a:schemeClr val="tx1"/>
                </a:solidFill>
                <a:effectLst/>
              </a:rPr>
              <a:t>leavevmode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7241FD-EF8D-3995-2D6A-B79E90303BEA}"/>
              </a:ext>
            </a:extLst>
          </p:cNvPr>
          <p:cNvSpPr/>
          <p:nvPr/>
        </p:nvSpPr>
        <p:spPr>
          <a:xfrm>
            <a:off x="1842868" y="1434906"/>
            <a:ext cx="8707901" cy="239150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77E797-7661-12CD-EB52-EA9D871807A0}"/>
              </a:ext>
            </a:extLst>
          </p:cNvPr>
          <p:cNvSpPr txBox="1"/>
          <p:nvPr/>
        </p:nvSpPr>
        <p:spPr>
          <a:xfrm>
            <a:off x="2053883" y="1716258"/>
            <a:ext cx="829524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1"/>
                </a:solidFill>
                <a:effectLst/>
                <a:hlinkClick r:id="rId2"/>
              </a:rPr>
              <a:t>https://tex.stackexchange.com/questions/22852/function-and-usage-of-leavevmode</a:t>
            </a:r>
            <a:endParaRPr lang="en-US" sz="2800" dirty="0">
              <a:solidFill>
                <a:schemeClr val="accent1"/>
              </a:solidFill>
              <a:effectLst/>
            </a:endParaRPr>
          </a:p>
          <a:p>
            <a:endParaRPr lang="en-US" sz="2800" dirty="0">
              <a:solidFill>
                <a:schemeClr val="accent1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1"/>
                </a:solidFill>
                <a:effectLst/>
              </a:rPr>
              <a:t> </a:t>
            </a:r>
            <a:r>
              <a:rPr lang="en-US" sz="2800" dirty="0">
                <a:solidFill>
                  <a:schemeClr val="accent1"/>
                </a:solidFill>
                <a:hlinkClick r:id="rId3"/>
              </a:rPr>
              <a:t>https://texfaq.org/FAQ-noline</a:t>
            </a:r>
            <a:endParaRPr lang="en-US" sz="2800" dirty="0">
              <a:solidFill>
                <a:schemeClr val="accent1"/>
              </a:solidFill>
            </a:endParaRPr>
          </a:p>
          <a:p>
            <a:endParaRPr lang="en-US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472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4B81BB3-3012-69F0-1B3F-17784589F544}"/>
              </a:ext>
            </a:extLst>
          </p:cNvPr>
          <p:cNvSpPr/>
          <p:nvPr/>
        </p:nvSpPr>
        <p:spPr>
          <a:xfrm>
            <a:off x="506436" y="323556"/>
            <a:ext cx="4698610" cy="745589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2"/>
                </a:solidFill>
              </a:rPr>
              <a:t>\</a:t>
            </a:r>
            <a:r>
              <a:rPr lang="en-US" sz="2800" dirty="0" err="1">
                <a:solidFill>
                  <a:schemeClr val="accent2"/>
                </a:solidFill>
              </a:rPr>
              <a:t>whiledo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  <a:r>
              <a:rPr lang="en-US" sz="2800" dirty="0"/>
              <a:t>from </a:t>
            </a:r>
            <a:r>
              <a:rPr lang="en-US" sz="2800" dirty="0" err="1"/>
              <a:t>ifthen</a:t>
            </a:r>
            <a:r>
              <a:rPr lang="en-US" sz="2800" dirty="0"/>
              <a:t> Package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6DD436-BFBA-86A1-AAAA-02E1B08586F8}"/>
              </a:ext>
            </a:extLst>
          </p:cNvPr>
          <p:cNvSpPr/>
          <p:nvPr/>
        </p:nvSpPr>
        <p:spPr>
          <a:xfrm>
            <a:off x="1430215" y="1716259"/>
            <a:ext cx="9331570" cy="434050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FE8513-D1B2-7104-247A-B21DC98F13F5}"/>
              </a:ext>
            </a:extLst>
          </p:cNvPr>
          <p:cNvSpPr txBox="1"/>
          <p:nvPr/>
        </p:nvSpPr>
        <p:spPr>
          <a:xfrm>
            <a:off x="1617785" y="1871004"/>
            <a:ext cx="896112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2"/>
                </a:solidFill>
              </a:rPr>
              <a:t>\</a:t>
            </a:r>
            <a:r>
              <a:rPr lang="en-US" sz="4000" dirty="0" err="1">
                <a:solidFill>
                  <a:schemeClr val="accent2"/>
                </a:solidFill>
              </a:rPr>
              <a:t>whiledo</a:t>
            </a:r>
            <a:r>
              <a:rPr lang="en-US" sz="4000" dirty="0"/>
              <a:t>{</a:t>
            </a:r>
            <a:r>
              <a:rPr lang="en-US" sz="4000" dirty="0">
                <a:solidFill>
                  <a:schemeClr val="accent1"/>
                </a:solidFill>
              </a:rPr>
              <a:t>test</a:t>
            </a:r>
            <a:r>
              <a:rPr lang="en-US" sz="4000" dirty="0"/>
              <a:t>}{</a:t>
            </a:r>
          </a:p>
          <a:p>
            <a:r>
              <a:rPr lang="en-US" sz="4000" dirty="0"/>
              <a:t>	actions/routines </a:t>
            </a:r>
          </a:p>
          <a:p>
            <a:r>
              <a:rPr lang="en-US" sz="4000" dirty="0"/>
              <a:t>}</a:t>
            </a:r>
          </a:p>
          <a:p>
            <a:endParaRPr lang="en-US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Actions/Routines  are executed repeatedly until </a:t>
            </a:r>
            <a:r>
              <a:rPr lang="en-US" sz="2800" dirty="0">
                <a:solidFill>
                  <a:schemeClr val="accent1"/>
                </a:solidFill>
              </a:rPr>
              <a:t>test </a:t>
            </a:r>
            <a:r>
              <a:rPr lang="en-US" sz="2800" dirty="0"/>
              <a:t>becomes false.</a:t>
            </a:r>
          </a:p>
          <a:p>
            <a:endParaRPr lang="en-US" sz="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We need counters to determine how many times we              would like to repeat the actions, and to stop the loop.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107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3B2809-A245-6B5F-7E72-F203A2F4F4F3}"/>
              </a:ext>
            </a:extLst>
          </p:cNvPr>
          <p:cNvSpPr txBox="1"/>
          <p:nvPr/>
        </p:nvSpPr>
        <p:spPr>
          <a:xfrm>
            <a:off x="3300549" y="3044279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304920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1448</TotalTime>
  <Words>191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Söhne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20</cp:revision>
  <dcterms:created xsi:type="dcterms:W3CDTF">2023-11-25T12:18:46Z</dcterms:created>
  <dcterms:modified xsi:type="dcterms:W3CDTF">2023-12-03T11:30:03Z</dcterms:modified>
</cp:coreProperties>
</file>
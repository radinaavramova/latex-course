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EC4DB-968B-B528-D377-5E023CB32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E26CB1-A5EE-9335-466F-4CE89B89BA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C4A60-DB7E-E8D6-C8D8-F3B5CCBC1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64C8-1DB2-42B4-A594-D1C65EF2CB7E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C966C-4D44-2361-2F46-5787A1C5B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4090E-593C-2A20-A56C-FB45C58D1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0685-AA92-48A7-A2D0-56230651F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470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25581-1E32-0340-A203-D10E823BA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BCF33-4B56-5B1C-6BE2-DF5AC4FDA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6EA4C-D73E-B361-D70F-BAEADF77B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64C8-1DB2-42B4-A594-D1C65EF2CB7E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EC8C9-53DD-2E0B-6062-4225C47F1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F7B2E-4BD2-C010-CF7F-0240BFFB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0685-AA92-48A7-A2D0-56230651F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8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C4BE1-8096-0C63-EE16-ED309B0E1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1E194-88BF-28C1-E955-7303A8D27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D7CD-7B9A-93A3-1F87-DFB3E3E3E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64C8-1DB2-42B4-A594-D1C65EF2CB7E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D6AB6-AF1E-ED18-959C-08296219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1E08E-21A9-7C36-67FD-023426E8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0685-AA92-48A7-A2D0-56230651F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14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8A4F1-BA8F-AE65-D31B-26033CACB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275D4-8F9F-97E0-3F1A-C53F7D673B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99FCE-AF92-3139-247F-5938158C6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6800D5-BC7F-670A-D200-9EC029E1C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64C8-1DB2-42B4-A594-D1C65EF2CB7E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2896D-CC8F-8DB2-D402-77CB79ADE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542FF-3E69-A59B-C341-64A9FB3AA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0685-AA92-48A7-A2D0-56230651F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77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EF88-3967-8BDE-734B-08BD341B2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267F8-85AC-39D4-76CE-49AAEFB8A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50C30-8919-DDCA-C10F-58BA462B5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5F40E8-2DBF-6720-A641-87292EE48D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C0BC51-B458-2577-8AE8-E31C947B4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916BEE-040F-4B48-7B7B-978B2C000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64C8-1DB2-42B4-A594-D1C65EF2CB7E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00093E-CCFC-4FF1-F9FF-87291127A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59705C-8252-B893-697A-EA06C7455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0685-AA92-48A7-A2D0-56230651F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74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F5831-AD1C-464E-6675-331CFC904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4F2F5-98ED-E86E-E2E2-BE0D0F6EA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64C8-1DB2-42B4-A594-D1C65EF2CB7E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7496F-36E0-3904-451A-283C9FAF7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C522B-06A2-D7C1-C438-1E1F3E5BA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0685-AA92-48A7-A2D0-56230651F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37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607007-700B-8DBF-4620-D6C37EDB6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64C8-1DB2-42B4-A594-D1C65EF2CB7E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954ABB-2D1C-1CB1-006F-F27B38A64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332A1-E6E5-A438-2972-588148FC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0685-AA92-48A7-A2D0-56230651F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22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679E7-B2E8-8C3F-088A-42382E5C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74F66-5884-8189-D163-349892ECD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B449D-C1DA-2C60-FEA2-5ED1DA59C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92E06-82D4-BD15-BD78-303D8F70A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64C8-1DB2-42B4-A594-D1C65EF2CB7E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9238B-CBBE-48AC-2908-DDFD996BA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5379B-D6C6-2AE4-11EC-68048138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0685-AA92-48A7-A2D0-56230651F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27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F8B5D-2EF7-FD01-D11A-6072B60D3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2C0B08-EED9-B852-1304-36D9FE63CE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9D618-D5F2-B227-15AC-40108D2BF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9DE27-5809-CD00-30F5-F296CADED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64C8-1DB2-42B4-A594-D1C65EF2CB7E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CA1F6-C5B6-7A01-9E31-A7F37269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B3E7A-213D-24AD-FD1E-3B219B899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0685-AA92-48A7-A2D0-56230651F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3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DE700-B041-0FEC-D9AA-F6A28F89B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375BE-AB34-2067-BD11-BB95681E7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E732D-FE18-7E08-5C61-75B81BC3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64C8-1DB2-42B4-A594-D1C65EF2CB7E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E12B0-B53B-D4A4-51C7-F646EC0CC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34B90-79D5-FE24-6E18-7BBE52543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0685-AA92-48A7-A2D0-56230651F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21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66C3D-D6EF-682B-63BC-303E1CB52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E4EC4E-8769-8B16-7A7B-1603DC9B2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6952F-FBCA-363C-86F1-1D6075D4E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64C8-1DB2-42B4-A594-D1C65EF2CB7E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F0BAB-A86E-99EE-E30D-649CAB7B4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EE5ED-B23E-6F38-E103-028D2C9F4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0685-AA92-48A7-A2D0-56230651F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45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8B40BC-A225-9B2F-BA4A-DF3110CBF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50589-6193-6F9A-ACC9-E26AE0068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8FA78-FE38-07D4-2EFD-E0AEB6DDF2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564C8-1DB2-42B4-A594-D1C65EF2CB7E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2518B-C339-6481-3352-40D0DC5A7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EE7C2-3636-4767-173A-BF34A3029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70685-AA92-48A7-A2D0-56230651F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18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233E7D-B946-7085-EC8D-E0E50154D05C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C75773-164A-8A12-0982-95F876EE22EC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A25708-D4FE-E330-32B0-2389EF26E26E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AE53B6-81C3-A18D-E453-4B6F1ACA9160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746FC7-5883-ECDE-F12D-F37270C382F5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Formatting</a:t>
            </a:r>
          </a:p>
        </p:txBody>
      </p:sp>
    </p:spTree>
    <p:extLst>
      <p:ext uri="{BB962C8B-B14F-4D97-AF65-F5344CB8AC3E}">
        <p14:creationId xmlns:p14="http://schemas.microsoft.com/office/powerpoint/2010/main" val="4146729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953688-161F-AB95-07EC-4E29C793D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12" y="3328832"/>
            <a:ext cx="4495539" cy="2276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C17DFE-AB59-D564-F1A2-6EC856E50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259" y="3088293"/>
            <a:ext cx="4064129" cy="2757873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3E6C997-92E9-DE3C-4B74-1AAAB37C8412}"/>
              </a:ext>
            </a:extLst>
          </p:cNvPr>
          <p:cNvSpPr/>
          <p:nvPr/>
        </p:nvSpPr>
        <p:spPr>
          <a:xfrm>
            <a:off x="689317" y="422032"/>
            <a:ext cx="3376246" cy="618979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Index Style Files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4DFB4F-DBEA-75FC-3FC6-21BE5FECE957}"/>
              </a:ext>
            </a:extLst>
          </p:cNvPr>
          <p:cNvGrpSpPr/>
          <p:nvPr/>
        </p:nvGrpSpPr>
        <p:grpSpPr>
          <a:xfrm>
            <a:off x="5173467" y="731522"/>
            <a:ext cx="2276475" cy="1800230"/>
            <a:chOff x="5972175" y="390521"/>
            <a:chExt cx="2276475" cy="180023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A593CA1-FF5E-00F5-F679-ECDA5DA7ED43}"/>
                </a:ext>
              </a:extLst>
            </p:cNvPr>
            <p:cNvSpPr/>
            <p:nvPr/>
          </p:nvSpPr>
          <p:spPr>
            <a:xfrm>
              <a:off x="6142013" y="390521"/>
              <a:ext cx="1856936" cy="3807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Index_format.ist</a:t>
              </a:r>
              <a:endParaRPr lang="en-US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891D9AB-2FB2-FD32-6B0F-FA52684C2A84}"/>
                </a:ext>
              </a:extLst>
            </p:cNvPr>
            <p:cNvSpPr/>
            <p:nvPr/>
          </p:nvSpPr>
          <p:spPr>
            <a:xfrm>
              <a:off x="5972175" y="695101"/>
              <a:ext cx="2276475" cy="149565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dirty="0"/>
                <a:t>    Key / Value </a:t>
              </a:r>
            </a:p>
            <a:p>
              <a:r>
                <a:rPr lang="en-US" dirty="0"/>
                <a:t>    ….</a:t>
              </a:r>
            </a:p>
            <a:p>
              <a:r>
                <a:rPr lang="en-US" dirty="0"/>
                <a:t>    ….</a:t>
              </a:r>
            </a:p>
            <a:p>
              <a:r>
                <a:rPr lang="en-US" dirty="0"/>
                <a:t>    Key / Value</a:t>
              </a: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0FABBE-9D4B-57F4-A698-FBECA295F68A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4969151" y="4467229"/>
            <a:ext cx="2685108" cy="1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48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9344DD4-1032-87A0-32CC-F4FF14893C45}"/>
              </a:ext>
            </a:extLst>
          </p:cNvPr>
          <p:cNvSpPr/>
          <p:nvPr/>
        </p:nvSpPr>
        <p:spPr>
          <a:xfrm>
            <a:off x="689317" y="422032"/>
            <a:ext cx="3376246" cy="618979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Style Parameters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429D69-E425-00AE-1060-87E3860DD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227" y="1484089"/>
            <a:ext cx="10002130" cy="436660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40DDE99-A1FF-0A2F-C0D6-678CE4DA41F6}"/>
              </a:ext>
            </a:extLst>
          </p:cNvPr>
          <p:cNvSpPr/>
          <p:nvPr/>
        </p:nvSpPr>
        <p:spPr>
          <a:xfrm>
            <a:off x="1294226" y="6133514"/>
            <a:ext cx="6020974" cy="43609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 to the Folder: </a:t>
            </a:r>
            <a:r>
              <a:rPr lang="en-US" sz="2400" b="1" dirty="0" err="1"/>
              <a:t>MakeIndex</a:t>
            </a:r>
            <a:r>
              <a:rPr lang="en-US" sz="2400" b="1" dirty="0"/>
              <a:t> - mankier.com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2A4AA3-513A-7FC3-A345-45F77808C393}"/>
              </a:ext>
            </a:extLst>
          </p:cNvPr>
          <p:cNvSpPr/>
          <p:nvPr/>
        </p:nvSpPr>
        <p:spPr>
          <a:xfrm>
            <a:off x="7512148" y="6133514"/>
            <a:ext cx="3784209" cy="43609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/>
              <a:t>Index Preparation and Processing</a:t>
            </a:r>
          </a:p>
        </p:txBody>
      </p:sp>
    </p:spTree>
    <p:extLst>
      <p:ext uri="{BB962C8B-B14F-4D97-AF65-F5344CB8AC3E}">
        <p14:creationId xmlns:p14="http://schemas.microsoft.com/office/powerpoint/2010/main" val="67892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E934AD-D305-FC73-4F2C-96D75123C0AC}"/>
              </a:ext>
            </a:extLst>
          </p:cNvPr>
          <p:cNvSpPr/>
          <p:nvPr/>
        </p:nvSpPr>
        <p:spPr>
          <a:xfrm>
            <a:off x="267286" y="231677"/>
            <a:ext cx="7947800" cy="618979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Formatting Example: </a:t>
            </a:r>
            <a:r>
              <a:rPr lang="en-US" sz="2400" dirty="0"/>
              <a:t>using the </a:t>
            </a:r>
            <a:r>
              <a:rPr lang="en-US" sz="2400" dirty="0">
                <a:solidFill>
                  <a:schemeClr val="accent5"/>
                </a:solidFill>
              </a:rPr>
              <a:t>\rule{width}{thickness}</a:t>
            </a:r>
            <a:endParaRPr lang="en-US" sz="3200" dirty="0">
              <a:solidFill>
                <a:schemeClr val="accent5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467779-3970-D7B8-DB1E-0E87AF2AFC14}"/>
              </a:ext>
            </a:extLst>
          </p:cNvPr>
          <p:cNvSpPr/>
          <p:nvPr/>
        </p:nvSpPr>
        <p:spPr>
          <a:xfrm>
            <a:off x="267286" y="1158826"/>
            <a:ext cx="9172135" cy="162657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Using the rule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heading_prefix</a:t>
            </a:r>
            <a:r>
              <a:rPr lang="en-US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“</a:t>
            </a:r>
            <a:r>
              <a:rPr lang="en-US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{</a:t>
            </a:r>
            <a:r>
              <a:rPr lang="en-US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\\Large\\bfseries\\color{Gray}</a:t>
            </a:r>
            <a:r>
              <a:rPr lang="en-US" sz="2400" kern="100" dirty="0">
                <a:solidFill>
                  <a:schemeClr val="accent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\\rule{4cm}{2pt}</a:t>
            </a:r>
            <a:r>
              <a:rPr lang="en-US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\n\n"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heading_suffix</a:t>
            </a:r>
            <a:r>
              <a:rPr lang="en-US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"\n\n</a:t>
            </a:r>
            <a:r>
              <a:rPr lang="en-US" sz="2400" kern="100" dirty="0">
                <a:solidFill>
                  <a:schemeClr val="accent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\\rule{2.5cm}{2pt}</a:t>
            </a:r>
            <a:r>
              <a:rPr lang="en-US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}</a:t>
            </a:r>
            <a:r>
              <a:rPr lang="en-US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1FB8B9-AECC-CA2A-7D77-BC755F9D3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745" y="3076576"/>
            <a:ext cx="2645751" cy="35242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0202A5-D1BF-1842-16DE-EFC6685F0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090" y="3102073"/>
            <a:ext cx="4200525" cy="3524250"/>
          </a:xfrm>
          <a:prstGeom prst="rect">
            <a:avLst/>
          </a:prstGeom>
        </p:spPr>
      </p:pic>
      <p:sp>
        <p:nvSpPr>
          <p:cNvPr id="18" name="Arrow: Bent-Up 17">
            <a:extLst>
              <a:ext uri="{FF2B5EF4-FFF2-40B4-BE49-F238E27FC236}">
                <a16:creationId xmlns:a16="http://schemas.microsoft.com/office/drawing/2014/main" id="{6A1554FD-5FC9-769C-4D3A-22ACE2DE222B}"/>
              </a:ext>
            </a:extLst>
          </p:cNvPr>
          <p:cNvSpPr/>
          <p:nvPr/>
        </p:nvSpPr>
        <p:spPr>
          <a:xfrm rot="5400000">
            <a:off x="1273179" y="3419824"/>
            <a:ext cx="2113820" cy="844979"/>
          </a:xfrm>
          <a:prstGeom prst="bentUpArrow">
            <a:avLst>
              <a:gd name="adj1" fmla="val 25000"/>
              <a:gd name="adj2" fmla="val 26093"/>
              <a:gd name="adj3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88C923D6-366A-D67C-41AF-A4D1A54E3035}"/>
              </a:ext>
            </a:extLst>
          </p:cNvPr>
          <p:cNvSpPr/>
          <p:nvPr/>
        </p:nvSpPr>
        <p:spPr>
          <a:xfrm>
            <a:off x="6953615" y="4448176"/>
            <a:ext cx="2345130" cy="37982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2192453-0D7B-2F97-EC70-C050087DA459}"/>
              </a:ext>
            </a:extLst>
          </p:cNvPr>
          <p:cNvSpPr/>
          <p:nvPr/>
        </p:nvSpPr>
        <p:spPr>
          <a:xfrm>
            <a:off x="4206241" y="1158826"/>
            <a:ext cx="928467" cy="443572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.</a:t>
            </a:r>
            <a:r>
              <a:rPr lang="en-US" sz="2800" dirty="0" err="1"/>
              <a:t>ist</a:t>
            </a:r>
            <a:endParaRPr lang="en-US" sz="28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738ABA8-465B-F025-2523-2DFF436C7E4F}"/>
              </a:ext>
            </a:extLst>
          </p:cNvPr>
          <p:cNvSpPr/>
          <p:nvPr/>
        </p:nvSpPr>
        <p:spPr>
          <a:xfrm>
            <a:off x="6025148" y="3720319"/>
            <a:ext cx="928467" cy="443572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.</a:t>
            </a:r>
            <a:r>
              <a:rPr lang="en-US" sz="2800" dirty="0" err="1"/>
              <a:t>ind</a:t>
            </a:r>
            <a:endParaRPr lang="en-US" sz="28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19E3B83-5AF1-61B1-00BC-C3DE8313E22F}"/>
              </a:ext>
            </a:extLst>
          </p:cNvPr>
          <p:cNvCxnSpPr/>
          <p:nvPr/>
        </p:nvCxnSpPr>
        <p:spPr>
          <a:xfrm>
            <a:off x="2752579" y="3573194"/>
            <a:ext cx="6799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8707105-5561-3B2F-4B38-C0DBE1143052}"/>
              </a:ext>
            </a:extLst>
          </p:cNvPr>
          <p:cNvCxnSpPr/>
          <p:nvPr/>
        </p:nvCxnSpPr>
        <p:spPr>
          <a:xfrm>
            <a:off x="2752579" y="3892062"/>
            <a:ext cx="6799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78AB7BA-B50C-C8C9-11A5-6EB8E1BF0B3F}"/>
              </a:ext>
            </a:extLst>
          </p:cNvPr>
          <p:cNvSpPr txBox="1"/>
          <p:nvPr/>
        </p:nvSpPr>
        <p:spPr>
          <a:xfrm>
            <a:off x="3372530" y="3449898"/>
            <a:ext cx="383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\n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5C2AD1-9B20-56E2-C194-415FEA8826E0}"/>
              </a:ext>
            </a:extLst>
          </p:cNvPr>
          <p:cNvSpPr txBox="1"/>
          <p:nvPr/>
        </p:nvSpPr>
        <p:spPr>
          <a:xfrm>
            <a:off x="3372530" y="3757997"/>
            <a:ext cx="383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\n</a:t>
            </a:r>
          </a:p>
        </p:txBody>
      </p:sp>
    </p:spTree>
    <p:extLst>
      <p:ext uri="{BB962C8B-B14F-4D97-AF65-F5344CB8AC3E}">
        <p14:creationId xmlns:p14="http://schemas.microsoft.com/office/powerpoint/2010/main" val="28754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6B7645-CD91-12DF-D3AF-8B674681F70F}"/>
              </a:ext>
            </a:extLst>
          </p:cNvPr>
          <p:cNvGrpSpPr/>
          <p:nvPr/>
        </p:nvGrpSpPr>
        <p:grpSpPr>
          <a:xfrm>
            <a:off x="683455" y="2036187"/>
            <a:ext cx="10825089" cy="2321169"/>
            <a:chOff x="738554" y="1786596"/>
            <a:chExt cx="10825089" cy="2321169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DD41DE4-04E8-D394-574E-1545ABCB384A}"/>
                </a:ext>
              </a:extLst>
            </p:cNvPr>
            <p:cNvSpPr/>
            <p:nvPr/>
          </p:nvSpPr>
          <p:spPr>
            <a:xfrm>
              <a:off x="738554" y="1786596"/>
              <a:ext cx="10714892" cy="232116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175C18-A25D-7850-A0DB-4D03669E4AF2}"/>
                </a:ext>
              </a:extLst>
            </p:cNvPr>
            <p:cNvSpPr txBox="1"/>
            <p:nvPr/>
          </p:nvSpPr>
          <p:spPr>
            <a:xfrm>
              <a:off x="1216855" y="2951946"/>
              <a:ext cx="1034678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err="1"/>
                <a:t>heading_prefix</a:t>
              </a:r>
              <a:r>
                <a:rPr lang="en-US" sz="2800" dirty="0"/>
                <a:t> “ </a:t>
              </a:r>
              <a:r>
                <a:rPr lang="en-US" sz="2800" dirty="0">
                  <a:solidFill>
                    <a:schemeClr val="accent1"/>
                  </a:solidFill>
                </a:rPr>
                <a:t>[Applies before the Group Letter]</a:t>
              </a:r>
              <a:r>
                <a:rPr lang="en-US" sz="2800" dirty="0"/>
                <a:t> </a:t>
              </a:r>
              <a:r>
                <a:rPr lang="en-US" sz="2800" dirty="0">
                  <a:solidFill>
                    <a:schemeClr val="accent6">
                      <a:lumMod val="75000"/>
                    </a:schemeClr>
                  </a:solidFill>
                </a:rPr>
                <a:t>{Encapsulates</a:t>
              </a:r>
              <a:r>
                <a:rPr lang="en-US" sz="2800" dirty="0"/>
                <a:t>”</a:t>
              </a:r>
            </a:p>
            <a:p>
              <a:r>
                <a:rPr lang="en-US" sz="2800" dirty="0" err="1"/>
                <a:t>heading_suffix</a:t>
              </a:r>
              <a:r>
                <a:rPr lang="en-US" sz="2800" dirty="0"/>
                <a:t> “</a:t>
              </a:r>
              <a:r>
                <a:rPr lang="en-US" sz="2800" dirty="0">
                  <a:solidFill>
                    <a:schemeClr val="accent6">
                      <a:lumMod val="75000"/>
                    </a:schemeClr>
                  </a:solidFill>
                </a:rPr>
                <a:t>The Letter} </a:t>
              </a:r>
              <a:r>
                <a:rPr lang="en-US" sz="2800" dirty="0">
                  <a:solidFill>
                    <a:schemeClr val="accent2">
                      <a:lumMod val="75000"/>
                    </a:schemeClr>
                  </a:solidFill>
                </a:rPr>
                <a:t>(Applies after the Group Letter)</a:t>
              </a:r>
              <a:r>
                <a:rPr lang="en-US" sz="2800" dirty="0"/>
                <a:t> ”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A58358F-53B1-DEA1-BAD2-76DB379CCD8B}"/>
                </a:ext>
              </a:extLst>
            </p:cNvPr>
            <p:cNvSpPr txBox="1"/>
            <p:nvPr/>
          </p:nvSpPr>
          <p:spPr>
            <a:xfrm>
              <a:off x="1216855" y="1958148"/>
              <a:ext cx="932570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</a:rPr>
                <a:t>The prefix inserted macros end before the letter,  </a:t>
              </a:r>
              <a:r>
                <a:rPr lang="en-US" sz="2400" dirty="0">
                  <a:solidFill>
                    <a:schemeClr val="accent2">
                      <a:lumMod val="75000"/>
                    </a:schemeClr>
                  </a:solidFill>
                </a:rPr>
                <a:t>and the suffix macros start after the letter,</a:t>
              </a:r>
              <a:r>
                <a:rPr lang="en-US" sz="2400" dirty="0"/>
                <a:t>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</a:rPr>
                <a:t>and both of them encapsulate the letter.</a:t>
              </a: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6B55D15-9383-9CB3-380A-13216E6216A2}"/>
              </a:ext>
            </a:extLst>
          </p:cNvPr>
          <p:cNvSpPr/>
          <p:nvPr/>
        </p:nvSpPr>
        <p:spPr>
          <a:xfrm>
            <a:off x="683455" y="478419"/>
            <a:ext cx="4628774" cy="74078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/>
              <a:t>Formatting Scopes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FDBFE9-AA85-83FA-85C1-22245B1252F2}"/>
              </a:ext>
            </a:extLst>
          </p:cNvPr>
          <p:cNvSpPr/>
          <p:nvPr/>
        </p:nvSpPr>
        <p:spPr>
          <a:xfrm>
            <a:off x="683455" y="4891315"/>
            <a:ext cx="9694259" cy="108857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/>
              <a:t>Generally:</a:t>
            </a:r>
          </a:p>
          <a:p>
            <a:pPr algn="ctr"/>
            <a:r>
              <a:rPr lang="en-US" sz="2800" dirty="0"/>
              <a:t>The placement of group {} braces affects the result in the output.</a:t>
            </a:r>
          </a:p>
        </p:txBody>
      </p:sp>
    </p:spTree>
    <p:extLst>
      <p:ext uri="{BB962C8B-B14F-4D97-AF65-F5344CB8AC3E}">
        <p14:creationId xmlns:p14="http://schemas.microsoft.com/office/powerpoint/2010/main" val="2854318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3D6D0D-0CB0-8EE3-CEB9-8D07BF12D361}"/>
              </a:ext>
            </a:extLst>
          </p:cNvPr>
          <p:cNvSpPr txBox="1"/>
          <p:nvPr/>
        </p:nvSpPr>
        <p:spPr>
          <a:xfrm>
            <a:off x="3300549" y="3044279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408847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</TotalTime>
  <Words>182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40</cp:revision>
  <dcterms:created xsi:type="dcterms:W3CDTF">2023-10-03T12:41:39Z</dcterms:created>
  <dcterms:modified xsi:type="dcterms:W3CDTF">2023-10-05T11:58:30Z</dcterms:modified>
</cp:coreProperties>
</file>
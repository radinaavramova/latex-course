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DE14F-8041-9607-6BD3-58C677FC5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7B66C-69BA-E7CF-46D9-2716B81AF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57713-45DB-7ECD-1AE9-ADB9E994C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CF6A-F467-4CE6-A2F4-3F627480379C}" type="datetimeFigureOut">
              <a:rPr lang="en-US" smtClean="0"/>
              <a:t>10/21/2023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411AA-7511-057E-0D9B-C37A1762F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AFCA1-932C-B8E5-2A94-0D9EDD9E2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6254-A5EB-431B-81F2-3C6DBEACA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54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A2ED-6632-8515-5DC3-6D0980FE6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02EBA-D2CB-39A3-5FE8-744D900EC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67783-0689-7F24-46BB-BCBD42E4C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CF6A-F467-4CE6-A2F4-3F627480379C}" type="datetimeFigureOut">
              <a:rPr lang="en-US" smtClean="0"/>
              <a:t>10/21/2023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71ECD-110F-DD1B-DF86-4B39A8A7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A6B27-F22B-1712-E275-B26EC4F1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6254-A5EB-431B-81F2-3C6DBEACA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4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7951C-42C1-4472-5956-505BDE837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9FA29-66A7-B404-4042-775998A74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0C31E-1074-57B9-59AE-A0B6A79B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CF6A-F467-4CE6-A2F4-3F627480379C}" type="datetimeFigureOut">
              <a:rPr lang="en-US" smtClean="0"/>
              <a:t>10/21/2023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9C10E-A885-9D5A-EF1D-589A661C0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906AC-165B-21AC-FD36-427A62D0A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6254-A5EB-431B-81F2-3C6DBEACA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95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EBA1-7726-B2F5-6318-280519D2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B97A0-8A10-591D-D12F-B8183C9C5C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3AA4C-2952-9F27-DDB5-4020AC327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2A723-1325-1FBE-E129-83DC500F6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CF6A-F467-4CE6-A2F4-3F627480379C}" type="datetimeFigureOut">
              <a:rPr lang="en-US" smtClean="0"/>
              <a:t>10/21/2023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C72CE-8BB1-6FF6-6F6A-84EF85B5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D5924-6AA0-3EAF-A55F-9A37C65DD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6254-A5EB-431B-81F2-3C6DBEACA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1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B1B81-6B82-3566-6AF4-FBEBA5FF1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57F3F-2E7D-3E6D-FB10-424D3C86E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CFCCB-F037-5447-A72B-58D416B38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C0806C-2045-5365-4099-1F820DD76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4503C9-91CD-D3F4-44A8-92B081C2DE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4E9A9B-A4CF-C4DC-A05C-6ABBD8C2A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CF6A-F467-4CE6-A2F4-3F627480379C}" type="datetimeFigureOut">
              <a:rPr lang="en-US" smtClean="0"/>
              <a:t>10/21/2023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DEC314-CE98-D3C1-8C0D-031DAC59A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E2960D-6675-CA0C-0843-94074647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6254-A5EB-431B-81F2-3C6DBEACA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7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2B4B-9954-03B8-D151-D75080164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9AABA2-DA1A-0790-CA4E-0A05FD26B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CF6A-F467-4CE6-A2F4-3F627480379C}" type="datetimeFigureOut">
              <a:rPr lang="en-US" smtClean="0"/>
              <a:t>10/21/2023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FB746-2FA1-AD6E-657B-865E70C3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734E5-EA73-2559-F6AA-935AAF06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6254-A5EB-431B-81F2-3C6DBEACA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67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6BD65B-1CD9-01C7-FA67-F24C4A27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CF6A-F467-4CE6-A2F4-3F627480379C}" type="datetimeFigureOut">
              <a:rPr lang="en-US" smtClean="0"/>
              <a:t>10/21/2023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B82E3A-849C-0223-6510-CF6108A0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AE5B5-A0A3-BFDA-F714-BD89A907D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6254-A5EB-431B-81F2-3C6DBEACA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2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DFF0C-040C-8387-B2E7-71680C4A6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3CD12-3382-0925-F22D-AEF621B6D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1A9C6-EB27-9D58-7F00-3BE041FDE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99CBB-99F1-5E1E-30AB-3CBDB3E9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CF6A-F467-4CE6-A2F4-3F627480379C}" type="datetimeFigureOut">
              <a:rPr lang="en-US" smtClean="0"/>
              <a:t>10/21/2023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80FB4-C18B-3BB4-109E-DF760453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ECE60-7367-D93E-B39B-199314BD5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6254-A5EB-431B-81F2-3C6DBEACA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49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A29D-6DD8-C242-EA9D-184E09FC1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F47356-4540-78D1-48CA-25CFA54140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A78EB-980E-4DEA-8266-C8BE10329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246E-A105-5EED-B5F2-354D55514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CF6A-F467-4CE6-A2F4-3F627480379C}" type="datetimeFigureOut">
              <a:rPr lang="en-US" smtClean="0"/>
              <a:t>10/21/2023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1E2B9-DF33-6667-EF50-82FDF55C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F8465-1B40-DFE3-0895-9ED287859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6254-A5EB-431B-81F2-3C6DBEACA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667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CF734-92CF-F7E5-2A60-FAC12618D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7ADB5-1FB7-7FC0-D604-0B49F7934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D4936-BF3A-D182-18E3-4973E2A2A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CF6A-F467-4CE6-A2F4-3F627480379C}" type="datetimeFigureOut">
              <a:rPr lang="en-US" smtClean="0"/>
              <a:t>10/21/2023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1BE6C-B68D-96EE-8638-E878FA726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4A45A-3E92-65A2-1A0B-8533B929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6254-A5EB-431B-81F2-3C6DBEACA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21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ADD18-D6FC-B836-0716-43E06F3DC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3121A-7477-E89F-9F7F-14A73DA75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AB862-D6CA-D0F5-E5C9-906E1272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CF6A-F467-4CE6-A2F4-3F627480379C}" type="datetimeFigureOut">
              <a:rPr lang="en-US" smtClean="0"/>
              <a:t>10/21/2023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43E25-BBC6-F98A-D1EC-A9477AE1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7D78C-FFCE-CB99-4D51-EE07B546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6254-A5EB-431B-81F2-3C6DBEACA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4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622265-CBE6-C9B1-6F61-9F122BA41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78AB4-C7DA-C55D-3F99-ED45FAE67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59100-36CF-2865-D203-C1F8F77BF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6CF6A-F467-4CE6-A2F4-3F627480379C}" type="datetimeFigureOut">
              <a:rPr lang="en-US" smtClean="0"/>
              <a:t>10/21/2023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6CEA1-9A76-E078-5B61-7412A6DFA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00256-926A-375E-4603-1C7D15FA7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06254-A5EB-431B-81F2-3C6DBEACA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7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02BB9A-FCD3-889B-0CC4-C9B7AD3BB46E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7AB7FE-A824-2D13-D59E-3FFA39D91D72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C8807F-4FDD-7A1B-528E-F38717A003A4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04554E-CDA0-1769-4887-B738A20E9A93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86DA3-62A2-41F1-BC4E-E111B256D35E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Bibliographies </a:t>
            </a:r>
          </a:p>
        </p:txBody>
      </p:sp>
    </p:spTree>
    <p:extLst>
      <p:ext uri="{BB962C8B-B14F-4D97-AF65-F5344CB8AC3E}">
        <p14:creationId xmlns:p14="http://schemas.microsoft.com/office/powerpoint/2010/main" val="202135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31674E-8004-856E-49F4-6133AA480FE2}"/>
              </a:ext>
            </a:extLst>
          </p:cNvPr>
          <p:cNvSpPr/>
          <p:nvPr/>
        </p:nvSpPr>
        <p:spPr>
          <a:xfrm>
            <a:off x="429065" y="316523"/>
            <a:ext cx="4037427" cy="57677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bibtopic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B81939-36D9-6654-DD71-8998EA860E03}"/>
              </a:ext>
            </a:extLst>
          </p:cNvPr>
          <p:cNvGrpSpPr/>
          <p:nvPr/>
        </p:nvGrpSpPr>
        <p:grpSpPr>
          <a:xfrm>
            <a:off x="506433" y="1392701"/>
            <a:ext cx="5992836" cy="5148776"/>
            <a:chOff x="1026942" y="1392701"/>
            <a:chExt cx="5992836" cy="514877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8F0E676-05C7-1748-2414-B3144B140CB8}"/>
                </a:ext>
              </a:extLst>
            </p:cNvPr>
            <p:cNvSpPr/>
            <p:nvPr/>
          </p:nvSpPr>
          <p:spPr>
            <a:xfrm>
              <a:off x="1026942" y="1392702"/>
              <a:ext cx="5992836" cy="51487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66CD02-B3FF-0734-5629-3011805D2F73}"/>
                </a:ext>
              </a:extLst>
            </p:cNvPr>
            <p:cNvSpPr txBox="1"/>
            <p:nvPr/>
          </p:nvSpPr>
          <p:spPr>
            <a:xfrm>
              <a:off x="1385666" y="2609558"/>
              <a:ext cx="5394961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accent1"/>
                  </a:solidFill>
                </a:rPr>
                <a:t>\part </a:t>
              </a:r>
            </a:p>
            <a:p>
              <a:r>
                <a:rPr lang="en-US" sz="3200" dirty="0"/>
                <a:t>Content with Citations</a:t>
              </a:r>
            </a:p>
            <a:p>
              <a:endParaRPr lang="en-US" sz="3200" dirty="0"/>
            </a:p>
            <a:p>
              <a:r>
                <a:rPr lang="en-US" sz="3200" dirty="0">
                  <a:solidFill>
                    <a:schemeClr val="accent1"/>
                  </a:solidFill>
                </a:rPr>
                <a:t>\begin</a:t>
              </a:r>
              <a:r>
                <a:rPr lang="en-US" sz="3200" dirty="0"/>
                <a:t>{</a:t>
              </a:r>
              <a:r>
                <a:rPr lang="en-US" sz="3200" dirty="0" err="1">
                  <a:solidFill>
                    <a:srgbClr val="000000"/>
                  </a:solidFill>
                  <a:effectLst/>
                </a:rPr>
                <a:t>btSect</a:t>
              </a:r>
              <a:r>
                <a:rPr lang="en-US" sz="3200" dirty="0"/>
                <a:t>}[</a:t>
              </a:r>
              <a:r>
                <a:rPr lang="en-US" sz="3200" i="1" dirty="0"/>
                <a:t>style</a:t>
              </a:r>
              <a:r>
                <a:rPr lang="en-US" sz="3200" dirty="0"/>
                <a:t>]{&lt;</a:t>
              </a:r>
              <a:r>
                <a:rPr lang="en-US" sz="3200" i="1" dirty="0" err="1"/>
                <a:t>bibFile</a:t>
              </a:r>
              <a:r>
                <a:rPr lang="en-US" sz="3200" dirty="0"/>
                <a:t>&gt;}</a:t>
              </a:r>
            </a:p>
            <a:p>
              <a:r>
                <a:rPr lang="en-US" sz="3200" dirty="0">
                  <a:solidFill>
                    <a:srgbClr val="9F0003"/>
                  </a:solidFill>
                  <a:effectLst/>
                </a:rPr>
                <a:t>	\</a:t>
              </a:r>
              <a:r>
                <a:rPr lang="en-US" sz="3200" dirty="0" err="1">
                  <a:solidFill>
                    <a:srgbClr val="9F0003"/>
                  </a:solidFill>
                  <a:effectLst/>
                </a:rPr>
                <a:t>btPrintCited</a:t>
              </a:r>
              <a:endParaRPr lang="en-US" sz="3200" dirty="0">
                <a:solidFill>
                  <a:srgbClr val="9F0003"/>
                </a:solidFill>
                <a:effectLst/>
              </a:endParaRPr>
            </a:p>
            <a:p>
              <a:r>
                <a:rPr lang="en-US" sz="3200" dirty="0">
                  <a:solidFill>
                    <a:schemeClr val="accent1"/>
                  </a:solidFill>
                </a:rPr>
                <a:t>\end</a:t>
              </a:r>
              <a:r>
                <a:rPr lang="en-US" sz="3200" dirty="0"/>
                <a:t>{</a:t>
              </a:r>
              <a:r>
                <a:rPr lang="en-US" sz="3200" dirty="0" err="1">
                  <a:solidFill>
                    <a:srgbClr val="000000"/>
                  </a:solidFill>
                  <a:effectLst/>
                </a:rPr>
                <a:t>btSect</a:t>
              </a:r>
              <a:r>
                <a:rPr lang="en-US" sz="3200" dirty="0"/>
                <a:t>}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A9B255-9AC9-9584-6980-776DE7AAF0E8}"/>
                </a:ext>
              </a:extLst>
            </p:cNvPr>
            <p:cNvSpPr/>
            <p:nvPr/>
          </p:nvSpPr>
          <p:spPr>
            <a:xfrm>
              <a:off x="2700996" y="1392701"/>
              <a:ext cx="2644727" cy="7174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err="1"/>
                <a:t>main.tex</a:t>
              </a:r>
              <a:endParaRPr lang="en-US" sz="3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EB294C-2603-A335-F88B-1ECD1ED28F03}"/>
              </a:ext>
            </a:extLst>
          </p:cNvPr>
          <p:cNvGrpSpPr/>
          <p:nvPr/>
        </p:nvGrpSpPr>
        <p:grpSpPr>
          <a:xfrm>
            <a:off x="3731449" y="4635971"/>
            <a:ext cx="2972977" cy="1178451"/>
            <a:chOff x="4026874" y="4635971"/>
            <a:chExt cx="2972977" cy="1178451"/>
          </a:xfrm>
        </p:grpSpPr>
        <p:sp>
          <p:nvSpPr>
            <p:cNvPr id="11" name="Arrow: Bent-Up 10">
              <a:extLst>
                <a:ext uri="{FF2B5EF4-FFF2-40B4-BE49-F238E27FC236}">
                  <a16:creationId xmlns:a16="http://schemas.microsoft.com/office/drawing/2014/main" id="{1751B5BF-C53F-ED59-642F-01894A3E035D}"/>
                </a:ext>
              </a:extLst>
            </p:cNvPr>
            <p:cNvSpPr/>
            <p:nvPr/>
          </p:nvSpPr>
          <p:spPr>
            <a:xfrm rot="10800000" flipH="1">
              <a:off x="4670472" y="4635971"/>
              <a:ext cx="422031" cy="737887"/>
            </a:xfrm>
            <a:prstGeom prst="bentUp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8A334E-F62D-34D2-4540-C3E7FCB986A8}"/>
                </a:ext>
              </a:extLst>
            </p:cNvPr>
            <p:cNvSpPr txBox="1"/>
            <p:nvPr/>
          </p:nvSpPr>
          <p:spPr>
            <a:xfrm>
              <a:off x="4026874" y="5352757"/>
              <a:ext cx="29729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5">
                      <a:lumMod val="50000"/>
                    </a:schemeClr>
                  </a:solidFill>
                </a:rPr>
                <a:t>\section*{References}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912EFD-19E6-DC80-9541-2D91D5154C52}"/>
              </a:ext>
            </a:extLst>
          </p:cNvPr>
          <p:cNvGrpSpPr/>
          <p:nvPr/>
        </p:nvGrpSpPr>
        <p:grpSpPr>
          <a:xfrm>
            <a:off x="4825214" y="405908"/>
            <a:ext cx="5825196" cy="1005840"/>
            <a:chOff x="5050298" y="405908"/>
            <a:chExt cx="5825196" cy="1005840"/>
          </a:xfrm>
        </p:grpSpPr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2106CDD8-B91E-B66F-2DAF-37678F017F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0298" y="662979"/>
              <a:ext cx="1506415" cy="748769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851FD7-0623-B8D2-BAA7-CF132AAA5AE7}"/>
                </a:ext>
              </a:extLst>
            </p:cNvPr>
            <p:cNvSpPr/>
            <p:nvPr/>
          </p:nvSpPr>
          <p:spPr>
            <a:xfrm>
              <a:off x="6556713" y="405908"/>
              <a:ext cx="4318781" cy="576775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main</a:t>
              </a:r>
              <a:r>
                <a:rPr lang="en-US" sz="2800" dirty="0">
                  <a:solidFill>
                    <a:srgbClr val="C00000"/>
                  </a:solidFill>
                </a:rPr>
                <a:t>1</a:t>
              </a:r>
              <a:r>
                <a:rPr lang="en-US" sz="2800" dirty="0"/>
                <a:t>.aux …. </a:t>
              </a:r>
              <a:r>
                <a:rPr lang="en-US" sz="2800" dirty="0" err="1"/>
                <a:t>main</a:t>
              </a:r>
              <a:r>
                <a:rPr lang="en-US" sz="2800" dirty="0" err="1">
                  <a:solidFill>
                    <a:srgbClr val="C00000"/>
                  </a:solidFill>
                </a:rPr>
                <a:t>x</a:t>
              </a:r>
              <a:r>
                <a:rPr lang="en-US" sz="2800" dirty="0" err="1"/>
                <a:t>.aux</a:t>
              </a:r>
              <a:endParaRPr lang="en-US" sz="28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F97162D-4F62-54ED-42CF-52DE50C5E8A7}"/>
              </a:ext>
            </a:extLst>
          </p:cNvPr>
          <p:cNvGrpSpPr/>
          <p:nvPr/>
        </p:nvGrpSpPr>
        <p:grpSpPr>
          <a:xfrm>
            <a:off x="6843926" y="1411748"/>
            <a:ext cx="5190979" cy="1839351"/>
            <a:chOff x="6893169" y="1589649"/>
            <a:chExt cx="5190979" cy="1839351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C669D92-F3E8-8A8C-E1E0-18E8F5C30D90}"/>
                </a:ext>
              </a:extLst>
            </p:cNvPr>
            <p:cNvSpPr/>
            <p:nvPr/>
          </p:nvSpPr>
          <p:spPr>
            <a:xfrm>
              <a:off x="6893169" y="1589649"/>
              <a:ext cx="5190979" cy="1839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030144D-744B-3F3C-923D-7DBF1229C5CD}"/>
                </a:ext>
              </a:extLst>
            </p:cNvPr>
            <p:cNvSpPr/>
            <p:nvPr/>
          </p:nvSpPr>
          <p:spPr>
            <a:xfrm>
              <a:off x="8496885" y="1591115"/>
              <a:ext cx="1983545" cy="49940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/>
                <a:t>BibTeX</a:t>
              </a:r>
              <a:r>
                <a:rPr lang="en-US" sz="2400" dirty="0"/>
                <a:t> Runs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9171537-3BA1-27B3-F122-95E06287D984}"/>
                </a:ext>
              </a:extLst>
            </p:cNvPr>
            <p:cNvSpPr txBox="1"/>
            <p:nvPr/>
          </p:nvSpPr>
          <p:spPr>
            <a:xfrm>
              <a:off x="7083077" y="2110154"/>
              <a:ext cx="486039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Manually, for each main&lt;no&gt;.aux file we have:</a:t>
              </a:r>
            </a:p>
            <a:p>
              <a:r>
                <a:rPr lang="en-US" sz="2400" dirty="0"/>
                <a:t>	</a:t>
              </a:r>
              <a:r>
                <a:rPr lang="en-US" sz="2400" dirty="0" err="1">
                  <a:solidFill>
                    <a:srgbClr val="00B050"/>
                  </a:solidFill>
                </a:rPr>
                <a:t>bibtex</a:t>
              </a:r>
              <a:r>
                <a:rPr lang="en-US" sz="2400" dirty="0">
                  <a:solidFill>
                    <a:srgbClr val="00B050"/>
                  </a:solidFill>
                </a:rPr>
                <a:t> main&lt;&gt;.aux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1C18688-2DE0-3710-CC8E-36A4A908FA24}"/>
              </a:ext>
            </a:extLst>
          </p:cNvPr>
          <p:cNvGrpSpPr/>
          <p:nvPr/>
        </p:nvGrpSpPr>
        <p:grpSpPr>
          <a:xfrm>
            <a:off x="6843926" y="3513136"/>
            <a:ext cx="5190979" cy="2648514"/>
            <a:chOff x="6893169" y="1589461"/>
            <a:chExt cx="5190979" cy="1839539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E4FA622-07DC-C319-74B3-D0E220E6F0A7}"/>
                </a:ext>
              </a:extLst>
            </p:cNvPr>
            <p:cNvSpPr/>
            <p:nvPr/>
          </p:nvSpPr>
          <p:spPr>
            <a:xfrm>
              <a:off x="6893169" y="1589649"/>
              <a:ext cx="5190979" cy="1839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3E741CD-C1BD-B36F-D17C-A81836EA815A}"/>
                </a:ext>
              </a:extLst>
            </p:cNvPr>
            <p:cNvSpPr/>
            <p:nvPr/>
          </p:nvSpPr>
          <p:spPr>
            <a:xfrm>
              <a:off x="8496885" y="1589461"/>
              <a:ext cx="1983545" cy="5285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Configuring </a:t>
              </a:r>
              <a:r>
                <a:rPr lang="en-US" sz="2400" dirty="0" err="1"/>
                <a:t>Texmaker</a:t>
              </a:r>
              <a:endParaRPr lang="en-US" sz="24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9821FC-D5A7-75BE-827F-7DC33A01FCBD}"/>
                </a:ext>
              </a:extLst>
            </p:cNvPr>
            <p:cNvSpPr txBox="1"/>
            <p:nvPr/>
          </p:nvSpPr>
          <p:spPr>
            <a:xfrm>
              <a:off x="7132308" y="2309460"/>
              <a:ext cx="4860394" cy="833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Since the aux files have the name of the current </a:t>
              </a:r>
              <a:r>
                <a:rPr lang="en-US" sz="2400" dirty="0" err="1"/>
                <a:t>tex</a:t>
              </a:r>
              <a:r>
                <a:rPr lang="en-US" sz="2400" dirty="0"/>
                <a:t> input:</a:t>
              </a:r>
            </a:p>
            <a:p>
              <a:r>
                <a:rPr lang="en-US" sz="2400" dirty="0">
                  <a:solidFill>
                    <a:srgbClr val="00B050"/>
                  </a:solidFill>
                </a:rPr>
                <a:t>|</a:t>
              </a:r>
              <a:r>
                <a:rPr lang="en-US" sz="2400" dirty="0" err="1">
                  <a:solidFill>
                    <a:srgbClr val="00B050"/>
                  </a:solidFill>
                </a:rPr>
                <a:t>bibtex</a:t>
              </a:r>
              <a:r>
                <a:rPr lang="en-US" sz="2400" dirty="0">
                  <a:solidFill>
                    <a:srgbClr val="00B050"/>
                  </a:solidFill>
                </a:rPr>
                <a:t> %1.aux|…..|</a:t>
              </a:r>
              <a:r>
                <a:rPr lang="en-US" sz="2400" dirty="0" err="1">
                  <a:solidFill>
                    <a:srgbClr val="00B050"/>
                  </a:solidFill>
                </a:rPr>
                <a:t>bibtex</a:t>
              </a:r>
              <a:r>
                <a:rPr lang="en-US" sz="2400" dirty="0">
                  <a:solidFill>
                    <a:srgbClr val="00B050"/>
                  </a:solidFill>
                </a:rPr>
                <a:t> %</a:t>
              </a:r>
              <a:r>
                <a:rPr lang="en-US" sz="2400" dirty="0" err="1">
                  <a:solidFill>
                    <a:srgbClr val="00B050"/>
                  </a:solidFill>
                </a:rPr>
                <a:t>x.aux</a:t>
              </a:r>
              <a:r>
                <a:rPr lang="en-US" sz="2400" dirty="0">
                  <a:solidFill>
                    <a:srgbClr val="00B050"/>
                  </a:solidFill>
                </a:rPr>
                <a:t>|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166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4F2B07-F07B-481A-1D77-6C5732640FDA}"/>
              </a:ext>
            </a:extLst>
          </p:cNvPr>
          <p:cNvSpPr/>
          <p:nvPr/>
        </p:nvSpPr>
        <p:spPr>
          <a:xfrm>
            <a:off x="590843" y="379828"/>
            <a:ext cx="4515729" cy="590843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Logically Independent Units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CCF8D51-6F7F-98F9-57E3-AF386CCF56A6}"/>
              </a:ext>
            </a:extLst>
          </p:cNvPr>
          <p:cNvGrpSpPr/>
          <p:nvPr/>
        </p:nvGrpSpPr>
        <p:grpSpPr>
          <a:xfrm>
            <a:off x="1589649" y="1322362"/>
            <a:ext cx="8595360" cy="5050215"/>
            <a:chOff x="1631852" y="1322362"/>
            <a:chExt cx="8553157" cy="527538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33FEDD8-B94D-7CC4-5F8A-259C9E089DD0}"/>
                </a:ext>
              </a:extLst>
            </p:cNvPr>
            <p:cNvSpPr/>
            <p:nvPr/>
          </p:nvSpPr>
          <p:spPr>
            <a:xfrm>
              <a:off x="1631852" y="1322362"/>
              <a:ext cx="8553157" cy="527538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E2D64F0-8F6E-E04A-A74E-46190688414B}"/>
                </a:ext>
              </a:extLst>
            </p:cNvPr>
            <p:cNvSpPr txBox="1"/>
            <p:nvPr/>
          </p:nvSpPr>
          <p:spPr>
            <a:xfrm>
              <a:off x="2071157" y="1357311"/>
              <a:ext cx="7512148" cy="5240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accent1"/>
                  </a:solidFill>
                </a:rPr>
                <a:t>\part</a:t>
              </a:r>
            </a:p>
            <a:p>
              <a:r>
                <a:rPr lang="en-US" sz="3200" dirty="0"/>
                <a:t>\begin{</a:t>
              </a:r>
              <a:r>
                <a:rPr lang="en-US" sz="3200" dirty="0" err="1">
                  <a:solidFill>
                    <a:srgbClr val="FF0000"/>
                  </a:solidFill>
                  <a:effectLst/>
                </a:rPr>
                <a:t>btUnit</a:t>
              </a:r>
              <a:r>
                <a:rPr lang="en-US" sz="3200" dirty="0"/>
                <a:t>}</a:t>
              </a:r>
            </a:p>
            <a:p>
              <a:r>
                <a:rPr lang="en-US" sz="3200" dirty="0">
                  <a:solidFill>
                    <a:schemeClr val="accent1"/>
                  </a:solidFill>
                </a:rPr>
                <a:t>	\part</a:t>
              </a:r>
            </a:p>
            <a:p>
              <a:endParaRPr lang="en-US" sz="3200" dirty="0"/>
            </a:p>
            <a:p>
              <a:endParaRPr lang="en-US" sz="3200" dirty="0"/>
            </a:p>
            <a:p>
              <a:endParaRPr lang="en-US" sz="3200" dirty="0"/>
            </a:p>
            <a:p>
              <a:endParaRPr lang="en-US" sz="3200" dirty="0"/>
            </a:p>
            <a:p>
              <a:endParaRPr lang="en-US" sz="3200" dirty="0"/>
            </a:p>
            <a:p>
              <a:endParaRPr lang="en-US" sz="3200" dirty="0"/>
            </a:p>
            <a:p>
              <a:r>
                <a:rPr lang="en-US" sz="3200" dirty="0"/>
                <a:t>\end{</a:t>
              </a:r>
              <a:r>
                <a:rPr lang="en-US" sz="3200" dirty="0" err="1">
                  <a:solidFill>
                    <a:srgbClr val="FF0000"/>
                  </a:solidFill>
                  <a:effectLst/>
                </a:rPr>
                <a:t>btUnit</a:t>
              </a:r>
              <a:r>
                <a:rPr lang="en-US" sz="3200" dirty="0"/>
                <a:t>}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3AFC93-7EC8-1D4E-2BD3-51D51605DA25}"/>
              </a:ext>
            </a:extLst>
          </p:cNvPr>
          <p:cNvGrpSpPr/>
          <p:nvPr/>
        </p:nvGrpSpPr>
        <p:grpSpPr>
          <a:xfrm>
            <a:off x="2869808" y="3024556"/>
            <a:ext cx="5871843" cy="2595490"/>
            <a:chOff x="2869808" y="3221502"/>
            <a:chExt cx="5871843" cy="231413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06243D8-5963-BE6B-435C-5F9BF95BEEB4}"/>
                </a:ext>
              </a:extLst>
            </p:cNvPr>
            <p:cNvSpPr/>
            <p:nvPr/>
          </p:nvSpPr>
          <p:spPr>
            <a:xfrm>
              <a:off x="2869808" y="3221502"/>
              <a:ext cx="5871843" cy="2314136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9C6513-7C63-0E37-2ADD-4584BE807B55}"/>
                </a:ext>
              </a:extLst>
            </p:cNvPr>
            <p:cNvSpPr txBox="1"/>
            <p:nvPr/>
          </p:nvSpPr>
          <p:spPr>
            <a:xfrm>
              <a:off x="3033006" y="3443704"/>
              <a:ext cx="5708645" cy="1838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accent1"/>
                  </a:solidFill>
                </a:rPr>
                <a:t>\begin</a:t>
              </a:r>
              <a:r>
                <a:rPr lang="en-US" sz="3200" dirty="0"/>
                <a:t>{</a:t>
              </a:r>
              <a:r>
                <a:rPr lang="en-US" sz="3200" dirty="0" err="1">
                  <a:solidFill>
                    <a:srgbClr val="000000"/>
                  </a:solidFill>
                  <a:effectLst/>
                </a:rPr>
                <a:t>btSect</a:t>
              </a:r>
              <a:r>
                <a:rPr lang="en-US" sz="3200" dirty="0"/>
                <a:t>}[</a:t>
              </a:r>
              <a:r>
                <a:rPr lang="en-US" sz="3200" i="1" dirty="0"/>
                <a:t>style</a:t>
              </a:r>
              <a:r>
                <a:rPr lang="en-US" sz="3200" dirty="0"/>
                <a:t>]{&lt;</a:t>
              </a:r>
              <a:r>
                <a:rPr lang="en-US" sz="3200" i="1" dirty="0" err="1"/>
                <a:t>bibFile</a:t>
              </a:r>
              <a:r>
                <a:rPr lang="en-US" sz="3200" dirty="0"/>
                <a:t>&gt;}</a:t>
              </a:r>
            </a:p>
            <a:p>
              <a:r>
                <a:rPr lang="en-US" sz="3200" dirty="0"/>
                <a:t>	Content with Citations</a:t>
              </a:r>
            </a:p>
            <a:p>
              <a:r>
                <a:rPr lang="en-US" sz="3200" dirty="0">
                  <a:solidFill>
                    <a:srgbClr val="9F0003"/>
                  </a:solidFill>
                  <a:effectLst/>
                </a:rPr>
                <a:t>	\</a:t>
              </a:r>
              <a:r>
                <a:rPr lang="en-US" sz="3200" dirty="0" err="1">
                  <a:solidFill>
                    <a:srgbClr val="9F0003"/>
                  </a:solidFill>
                  <a:effectLst/>
                </a:rPr>
                <a:t>PrintingCommand</a:t>
              </a:r>
              <a:endParaRPr lang="en-US" sz="3200" dirty="0">
                <a:solidFill>
                  <a:srgbClr val="9F0003"/>
                </a:solidFill>
                <a:effectLst/>
              </a:endParaRPr>
            </a:p>
            <a:p>
              <a:r>
                <a:rPr lang="en-US" sz="3200" dirty="0">
                  <a:solidFill>
                    <a:schemeClr val="accent1"/>
                  </a:solidFill>
                </a:rPr>
                <a:t>\end</a:t>
              </a:r>
              <a:r>
                <a:rPr lang="en-US" sz="3200" dirty="0"/>
                <a:t>{</a:t>
              </a:r>
              <a:r>
                <a:rPr lang="en-US" sz="3200" dirty="0" err="1">
                  <a:solidFill>
                    <a:srgbClr val="000000"/>
                  </a:solidFill>
                  <a:effectLst/>
                </a:rPr>
                <a:t>btSect</a:t>
              </a:r>
              <a:r>
                <a:rPr lang="en-US" sz="3200" dirty="0"/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125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65D71B-5328-0122-14AE-4AEC7FE43FCA}"/>
              </a:ext>
            </a:extLst>
          </p:cNvPr>
          <p:cNvSpPr/>
          <p:nvPr/>
        </p:nvSpPr>
        <p:spPr>
          <a:xfrm>
            <a:off x="253212" y="154741"/>
            <a:ext cx="4121834" cy="56270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 Building Process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4549C5-EBD3-ED44-704D-B4242BB2568F}"/>
              </a:ext>
            </a:extLst>
          </p:cNvPr>
          <p:cNvSpPr/>
          <p:nvPr/>
        </p:nvSpPr>
        <p:spPr>
          <a:xfrm>
            <a:off x="5303520" y="189915"/>
            <a:ext cx="6766560" cy="654145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Udacity Shell Workshop </a:t>
            </a:r>
          </a:p>
          <a:p>
            <a:pPr algn="ctr"/>
            <a:r>
              <a:rPr lang="en-US" dirty="0"/>
              <a:t>https://www.udacity.com/course/shell-workshop--ud206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C15D42E-A889-DDCF-8911-BB62CDABCF3C}"/>
              </a:ext>
            </a:extLst>
          </p:cNvPr>
          <p:cNvGrpSpPr/>
          <p:nvPr/>
        </p:nvGrpSpPr>
        <p:grpSpPr>
          <a:xfrm>
            <a:off x="984734" y="963636"/>
            <a:ext cx="10452296" cy="5831060"/>
            <a:chOff x="984734" y="963636"/>
            <a:chExt cx="10452296" cy="58310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EBF61BF-56DE-C319-5BD0-A6BFE26C6C82}"/>
                </a:ext>
              </a:extLst>
            </p:cNvPr>
            <p:cNvSpPr/>
            <p:nvPr/>
          </p:nvSpPr>
          <p:spPr>
            <a:xfrm>
              <a:off x="984734" y="1252022"/>
              <a:ext cx="10452296" cy="55426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8CBF5AB-4947-E5BA-2F47-758FCE6AB58E}"/>
                </a:ext>
              </a:extLst>
            </p:cNvPr>
            <p:cNvSpPr/>
            <p:nvPr/>
          </p:nvSpPr>
          <p:spPr>
            <a:xfrm>
              <a:off x="4339877" y="963636"/>
              <a:ext cx="3742009" cy="56270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Shell Script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8FAA3B1-1C81-E415-AC32-2F87911A1464}"/>
              </a:ext>
            </a:extLst>
          </p:cNvPr>
          <p:cNvGrpSpPr/>
          <p:nvPr/>
        </p:nvGrpSpPr>
        <p:grpSpPr>
          <a:xfrm>
            <a:off x="1582609" y="1953065"/>
            <a:ext cx="7706753" cy="829991"/>
            <a:chOff x="1582609" y="1953065"/>
            <a:chExt cx="7706753" cy="82999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4D05A5D-37A2-BF5D-2759-7A8D716159B3}"/>
                </a:ext>
              </a:extLst>
            </p:cNvPr>
            <p:cNvSpPr/>
            <p:nvPr/>
          </p:nvSpPr>
          <p:spPr>
            <a:xfrm>
              <a:off x="1582609" y="2086707"/>
              <a:ext cx="520505" cy="56270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1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6A05337-35DF-3E5C-7A83-8DA7D0BB25B8}"/>
                </a:ext>
              </a:extLst>
            </p:cNvPr>
            <p:cNvSpPr/>
            <p:nvPr/>
          </p:nvSpPr>
          <p:spPr>
            <a:xfrm>
              <a:off x="2536870" y="1953065"/>
              <a:ext cx="6752492" cy="829991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000" b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Clean auxiliary files</a:t>
              </a:r>
            </a:p>
            <a:p>
              <a:r>
                <a:rPr lang="en-US" sz="20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rm</a:t>
              </a:r>
              <a:r>
                <a:rPr lang="en-US" sz="2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-f</a:t>
              </a:r>
              <a:r>
                <a:rPr lang="en-US" sz="2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20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.aux</a:t>
              </a:r>
              <a:r>
                <a:rPr lang="en-US" sz="2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20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2000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bbl</a:t>
              </a:r>
              <a:r>
                <a:rPr lang="en-US" sz="2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20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2000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blg</a:t>
              </a:r>
              <a:r>
                <a:rPr lang="en-US" sz="2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20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.log</a:t>
              </a:r>
              <a:r>
                <a:rPr lang="en-US" sz="2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87068D0-2016-4C46-CED2-B0BFD4704724}"/>
              </a:ext>
            </a:extLst>
          </p:cNvPr>
          <p:cNvGrpSpPr/>
          <p:nvPr/>
        </p:nvGrpSpPr>
        <p:grpSpPr>
          <a:xfrm>
            <a:off x="1582608" y="3209777"/>
            <a:ext cx="7706754" cy="829991"/>
            <a:chOff x="1582608" y="3209777"/>
            <a:chExt cx="7706754" cy="82999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F80AF48-D2C2-D8A5-8F9A-4F6630776093}"/>
                </a:ext>
              </a:extLst>
            </p:cNvPr>
            <p:cNvSpPr/>
            <p:nvPr/>
          </p:nvSpPr>
          <p:spPr>
            <a:xfrm>
              <a:off x="1582608" y="3332868"/>
              <a:ext cx="520505" cy="56270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2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D1C1AB0-F3AF-A7B3-942B-D77312BC911D}"/>
                </a:ext>
              </a:extLst>
            </p:cNvPr>
            <p:cNvSpPr/>
            <p:nvPr/>
          </p:nvSpPr>
          <p:spPr>
            <a:xfrm>
              <a:off x="2536870" y="3209777"/>
              <a:ext cx="6752492" cy="829991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000" b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Run </a:t>
              </a:r>
              <a:r>
                <a:rPr lang="en-US" sz="2000" b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pdflatex</a:t>
              </a:r>
              <a:r>
                <a:rPr lang="en-US" sz="2000" b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on the main .</a:t>
              </a:r>
              <a:r>
                <a:rPr lang="en-US" sz="2000" b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tex</a:t>
              </a:r>
              <a:r>
                <a:rPr lang="en-US" sz="2000" b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file</a:t>
              </a:r>
            </a:p>
            <a:p>
              <a:r>
                <a:rPr lang="en-US" sz="20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pdflatex</a:t>
              </a:r>
              <a:r>
                <a:rPr lang="en-US" sz="2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main.tex</a:t>
              </a:r>
              <a:endPara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6646388C-E8C9-2658-49AC-70A55491B4E5}"/>
              </a:ext>
            </a:extLst>
          </p:cNvPr>
          <p:cNvSpPr/>
          <p:nvPr/>
        </p:nvSpPr>
        <p:spPr>
          <a:xfrm>
            <a:off x="9664500" y="1244990"/>
            <a:ext cx="1772529" cy="42672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compile.sh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C62CD4D-4E26-FEB3-F78B-4A9B7413B16B}"/>
              </a:ext>
            </a:extLst>
          </p:cNvPr>
          <p:cNvGrpSpPr/>
          <p:nvPr/>
        </p:nvGrpSpPr>
        <p:grpSpPr>
          <a:xfrm>
            <a:off x="1582607" y="4304711"/>
            <a:ext cx="7706755" cy="1392702"/>
            <a:chOff x="1582607" y="4304711"/>
            <a:chExt cx="7706755" cy="139270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7EBADBC-2709-F6F0-84D2-4E7A63A57E20}"/>
                </a:ext>
              </a:extLst>
            </p:cNvPr>
            <p:cNvSpPr/>
            <p:nvPr/>
          </p:nvSpPr>
          <p:spPr>
            <a:xfrm>
              <a:off x="1582607" y="4719708"/>
              <a:ext cx="520505" cy="56270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3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1A4AA53-675B-77D9-ECCC-7D160DB92BD3}"/>
                </a:ext>
              </a:extLst>
            </p:cNvPr>
            <p:cNvSpPr/>
            <p:nvPr/>
          </p:nvSpPr>
          <p:spPr>
            <a:xfrm>
              <a:off x="2536870" y="4304711"/>
              <a:ext cx="6752492" cy="1392702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b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Run </a:t>
              </a:r>
              <a:r>
                <a:rPr lang="en-US" sz="1600" b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BibTeX</a:t>
              </a:r>
              <a:r>
                <a:rPr lang="en-US" sz="1600" b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for all .aux files</a:t>
              </a:r>
            </a:p>
            <a:p>
              <a:r>
                <a:rPr lang="en-US" sz="16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sz="16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6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auxfile</a:t>
              </a:r>
              <a:r>
                <a:rPr lang="en-US" sz="16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6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in</a:t>
              </a:r>
              <a:r>
                <a:rPr lang="en-US" sz="16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6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16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.aux</a:t>
              </a:r>
            </a:p>
            <a:p>
              <a:r>
                <a:rPr lang="en-US" sz="16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do</a:t>
              </a:r>
              <a:endPara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6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sz="16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bibtex</a:t>
              </a:r>
              <a:r>
                <a:rPr lang="en-US" sz="16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6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sz="16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$</a:t>
              </a:r>
              <a:r>
                <a:rPr lang="en-US" sz="16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auxfile</a:t>
              </a:r>
              <a:r>
                <a:rPr lang="en-US" sz="16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</a:t>
              </a:r>
              <a:endPara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6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done</a:t>
              </a:r>
              <a:endPara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6727966-4DAF-0313-DA35-C0E4FD31464D}"/>
              </a:ext>
            </a:extLst>
          </p:cNvPr>
          <p:cNvGrpSpPr/>
          <p:nvPr/>
        </p:nvGrpSpPr>
        <p:grpSpPr>
          <a:xfrm>
            <a:off x="1582607" y="5853322"/>
            <a:ext cx="7706755" cy="829991"/>
            <a:chOff x="1582607" y="5853322"/>
            <a:chExt cx="7706755" cy="82999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B9FC773-66FF-34FF-3E70-7D690E9F193F}"/>
                </a:ext>
              </a:extLst>
            </p:cNvPr>
            <p:cNvSpPr/>
            <p:nvPr/>
          </p:nvSpPr>
          <p:spPr>
            <a:xfrm>
              <a:off x="1582607" y="5976422"/>
              <a:ext cx="520505" cy="56270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4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9B75FC6-AE0E-A672-7588-93115140B3D3}"/>
                </a:ext>
              </a:extLst>
            </p:cNvPr>
            <p:cNvSpPr/>
            <p:nvPr/>
          </p:nvSpPr>
          <p:spPr>
            <a:xfrm>
              <a:off x="2536870" y="5853322"/>
              <a:ext cx="6752492" cy="829991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000" b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Run </a:t>
              </a:r>
              <a:r>
                <a:rPr lang="en-US" sz="2000" b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pdflatex</a:t>
              </a:r>
              <a:r>
                <a:rPr lang="en-US" sz="2000" b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twice on the main .</a:t>
              </a:r>
              <a:r>
                <a:rPr lang="en-US" sz="2000" b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tex</a:t>
              </a:r>
              <a:r>
                <a:rPr lang="en-US" sz="2000" b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file</a:t>
              </a:r>
            </a:p>
            <a:p>
              <a:r>
                <a:rPr lang="en-US" sz="20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pdflatex</a:t>
              </a:r>
              <a:r>
                <a:rPr lang="en-US" sz="2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main.tex</a:t>
              </a:r>
              <a:r>
                <a:rPr lang="en-US" sz="20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     </a:t>
              </a:r>
              <a:endPara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2B64D1B-0B98-D59A-F66F-74C06F8C4395}"/>
                </a:ext>
              </a:extLst>
            </p:cNvPr>
            <p:cNvSpPr/>
            <p:nvPr/>
          </p:nvSpPr>
          <p:spPr>
            <a:xfrm>
              <a:off x="8475784" y="5955318"/>
              <a:ext cx="628366" cy="60491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x2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FA8A1E7B-CBC0-3DA2-2764-98AA31716C6B}"/>
              </a:ext>
            </a:extLst>
          </p:cNvPr>
          <p:cNvSpPr/>
          <p:nvPr/>
        </p:nvSpPr>
        <p:spPr>
          <a:xfrm>
            <a:off x="987048" y="1243826"/>
            <a:ext cx="1992922" cy="42672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$ ./compile.sh</a:t>
            </a:r>
          </a:p>
        </p:txBody>
      </p:sp>
    </p:spTree>
    <p:extLst>
      <p:ext uri="{BB962C8B-B14F-4D97-AF65-F5344CB8AC3E}">
        <p14:creationId xmlns:p14="http://schemas.microsoft.com/office/powerpoint/2010/main" val="198879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9A21F7-6ABB-8832-EAA3-7D1332AF220E}"/>
              </a:ext>
            </a:extLst>
          </p:cNvPr>
          <p:cNvSpPr txBox="1"/>
          <p:nvPr/>
        </p:nvSpPr>
        <p:spPr>
          <a:xfrm>
            <a:off x="3300549" y="3044279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53246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234</Words>
  <Application>Microsoft Office PowerPoint</Application>
  <PresentationFormat>Widescreen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27</cp:revision>
  <dcterms:created xsi:type="dcterms:W3CDTF">2023-10-21T10:06:28Z</dcterms:created>
  <dcterms:modified xsi:type="dcterms:W3CDTF">2023-10-21T17:52:52Z</dcterms:modified>
</cp:coreProperties>
</file>
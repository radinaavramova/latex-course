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D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0CF4B-D282-0AA9-0A84-71551B5AD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58753D-8E08-6EA3-8837-31F01A731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D2F22-CCE0-3852-C313-AD720D7A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D57CA-5AE0-89D1-92C4-F78936801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B7D09-FFC2-3902-8946-B01BA992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8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AEF48-B9C5-EAC0-2B77-DE555D54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9DAA9-BE7B-CA27-416B-CA56B9561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D2DD9-458F-7AC7-4B9E-76847C8E9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1BF68-B872-D3BC-24B8-E47FC72B1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78616-4315-61F4-5B81-2EE3ED92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0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965FD-59FF-2976-9008-766390D95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CD4BE-310F-DE28-B2C4-F20827032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5F16E-B910-2890-8B1C-A4791B1E6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30951-615E-B246-664D-5FF4759A8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D2F9B-021C-7B56-41F7-472661A8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528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0AF2-325E-AF90-ABA5-356960BF8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1BBF8-14F1-E657-4CD6-34468532EB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9815E-51B1-A667-4C22-58073AF73A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BFC66-4053-765F-6303-EC8D2BE9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FAF272-FED1-8069-549D-9A7050F3B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2BFC2-4A94-DA0A-187D-D5276D985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2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0E14-E8FE-6176-83C7-7AC291C9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8CF6DC-2AF4-2C05-50B1-9FB869DD5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BBB6A-9E0E-E464-83B5-FA3FCFBBD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E48E2-2056-FBC4-A2E9-2CB2E6C92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770634-FB38-19BC-75DC-E90A9C9F5F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46C5D-D447-BD44-FF0F-C8CFC5B8F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4643D-69C8-9CCF-4B62-B2802DC5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17E7E8-7D4E-875C-A96B-E0D13DE2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73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008F6-9BFA-A118-04C6-BF4A64FA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290656-89CC-E1BB-8527-F8290985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A34A2-331E-5B41-EA1A-472A5F436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79C2B-86AE-A306-C0D4-26E8F6DC8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8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53505F-BC59-6692-817F-3124D4B2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DBCC42-25C0-387C-E6C0-2C0FDEC08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EC9C4F-29BA-0988-63DD-07102F76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74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25DD-D665-2F51-BA88-9DB031E52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291F-8654-3E33-E970-E9812610C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9B98D2-E99F-74EF-B5A7-9AA66A2BD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5C9C-26A8-508A-6A09-41831F56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3E4FA-E010-98EA-B2BC-FA2603DA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78913-4CAF-EFEB-1676-7402E5F4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77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0038B-E4E8-A73F-CBC6-7A4664C13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DE7968-AAAB-0FF5-4F0F-42C07BCEA4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3DC498-6385-89AF-A46F-AFB295DB4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899E9-B69F-BF12-B9D1-28DCA74E3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79935-4C15-47A1-BC51-7185C240A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0056D-CB86-7497-533E-047012C0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35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D5E88-EA2E-A71A-59AC-420E2788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8F75E-1A16-B71B-B0E8-A07CAE642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08BF4-57DE-A5FA-C87E-4F077AE5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8628F-58FC-59D2-6050-62623857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0000E-1D66-636E-BAD2-0337B0AF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15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8529E9-9C91-AA91-82D1-068BF7B0C4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385C5-0154-E6A9-4182-3202D55D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ABCAC-1D45-E049-A87A-22A8F6F9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DA14B-ACAD-A155-D98F-B21EA6B6F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BF4BD-256A-9965-0EFB-4BE29148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54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9D9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C4AB9-A622-0F42-B6D6-26EE0E149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86C16-8AA5-8823-83F5-6DD7E21EB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58057-BB2A-EA47-B2D5-60E2145C79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184DC-4B94-42D8-A5CC-835A5BFE9592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B8F8-1FAC-9C31-4978-9BDC2C3403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EEF96-D4AB-EFBF-605F-AE3F2B68C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7EC50-AB2C-4805-93DE-0046436A4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1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AD67A0-A41B-4DA9-DF12-1D190075A70A}"/>
              </a:ext>
            </a:extLst>
          </p:cNvPr>
          <p:cNvSpPr/>
          <p:nvPr/>
        </p:nvSpPr>
        <p:spPr>
          <a:xfrm>
            <a:off x="1338465" y="1900442"/>
            <a:ext cx="3303020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US" sz="8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LaTeX</a:t>
            </a:r>
            <a:endParaRPr lang="en-US" sz="8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8366FA-8A78-01BC-15A7-9310AA65A065}"/>
              </a:ext>
            </a:extLst>
          </p:cNvPr>
          <p:cNvSpPr/>
          <p:nvPr/>
        </p:nvSpPr>
        <p:spPr>
          <a:xfrm>
            <a:off x="4641485" y="2251362"/>
            <a:ext cx="21056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Scientific  Documentation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ED08726-DE83-759A-CDDA-F32B6F395F0E}"/>
              </a:ext>
            </a:extLst>
          </p:cNvPr>
          <p:cNvSpPr/>
          <p:nvPr/>
        </p:nvSpPr>
        <p:spPr>
          <a:xfrm>
            <a:off x="1399309" y="3178162"/>
            <a:ext cx="5347855" cy="45719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A09310-E95B-9D44-8CC0-EC0D091EBAB5}"/>
              </a:ext>
            </a:extLst>
          </p:cNvPr>
          <p:cNvSpPr txBox="1"/>
          <p:nvPr/>
        </p:nvSpPr>
        <p:spPr>
          <a:xfrm>
            <a:off x="1338465" y="3400163"/>
            <a:ext cx="517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 Ammar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Taha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Mohamedy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E75039-D81E-B71A-C145-06367DAE8602}"/>
              </a:ext>
            </a:extLst>
          </p:cNvPr>
          <p:cNvSpPr txBox="1"/>
          <p:nvPr/>
        </p:nvSpPr>
        <p:spPr>
          <a:xfrm>
            <a:off x="1338465" y="4701507"/>
            <a:ext cx="70478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3324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BF5E12-254E-15F6-730A-93C8C64A6093}"/>
              </a:ext>
            </a:extLst>
          </p:cNvPr>
          <p:cNvSpPr/>
          <p:nvPr/>
        </p:nvSpPr>
        <p:spPr>
          <a:xfrm>
            <a:off x="436099" y="267285"/>
            <a:ext cx="3868616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Typesetting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AD808D-A687-925E-6B8E-B214E8370322}"/>
              </a:ext>
            </a:extLst>
          </p:cNvPr>
          <p:cNvSpPr/>
          <p:nvPr/>
        </p:nvSpPr>
        <p:spPr>
          <a:xfrm>
            <a:off x="919089" y="1195755"/>
            <a:ext cx="10353821" cy="3001348"/>
          </a:xfrm>
          <a:prstGeom prst="rect">
            <a:avLst/>
          </a:prstGeom>
          <a:ln w="28575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3F393F2-19AB-B099-4D21-2B9FD7B04663}"/>
              </a:ext>
            </a:extLst>
          </p:cNvPr>
          <p:cNvSpPr/>
          <p:nvPr/>
        </p:nvSpPr>
        <p:spPr>
          <a:xfrm>
            <a:off x="1266094" y="2180493"/>
            <a:ext cx="3038621" cy="1009357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Define a switch (if statement)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E3F73B6-34D2-A5A9-A688-C9145B0A8F5D}"/>
              </a:ext>
            </a:extLst>
          </p:cNvPr>
          <p:cNvGrpSpPr/>
          <p:nvPr/>
        </p:nvGrpSpPr>
        <p:grpSpPr>
          <a:xfrm>
            <a:off x="4304715" y="1456885"/>
            <a:ext cx="1899137" cy="1290711"/>
            <a:chOff x="4304715" y="1456885"/>
            <a:chExt cx="1899137" cy="1290711"/>
          </a:xfrm>
        </p:grpSpPr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3619887D-51B8-0DDD-CECF-6978C25A5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4715" y="1871003"/>
              <a:ext cx="1899137" cy="876593"/>
            </a:xfrm>
            <a:prstGeom prst="curvedConnector3">
              <a:avLst/>
            </a:prstGeom>
            <a:ln w="28575">
              <a:solidFill>
                <a:schemeClr val="accent6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407741D-B0E2-0D71-8C1D-53F178D8D3B0}"/>
                </a:ext>
              </a:extLst>
            </p:cNvPr>
            <p:cNvSpPr txBox="1"/>
            <p:nvPr/>
          </p:nvSpPr>
          <p:spPr>
            <a:xfrm>
              <a:off x="5064369" y="1456885"/>
              <a:ext cx="11394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6"/>
                  </a:solidFill>
                </a:rPr>
                <a:t>True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2EC1C5E-2A52-B803-3FE0-5AC178BDC544}"/>
              </a:ext>
            </a:extLst>
          </p:cNvPr>
          <p:cNvGrpSpPr/>
          <p:nvPr/>
        </p:nvGrpSpPr>
        <p:grpSpPr>
          <a:xfrm>
            <a:off x="4304715" y="2747596"/>
            <a:ext cx="1917893" cy="1299102"/>
            <a:chOff x="4304715" y="2747596"/>
            <a:chExt cx="1917893" cy="1299102"/>
          </a:xfrm>
        </p:grpSpPr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BD40D372-DC53-C2B7-5D41-117CEE6B4D01}"/>
                </a:ext>
              </a:extLst>
            </p:cNvPr>
            <p:cNvCxnSpPr>
              <a:cxnSpLocks/>
            </p:cNvCxnSpPr>
            <p:nvPr/>
          </p:nvCxnSpPr>
          <p:spPr>
            <a:xfrm>
              <a:off x="4304715" y="2747596"/>
              <a:ext cx="1791285" cy="884507"/>
            </a:xfrm>
            <a:prstGeom prst="curvedConnector3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5C7EE2-AADF-E9BC-24BF-B61041F222F6}"/>
                </a:ext>
              </a:extLst>
            </p:cNvPr>
            <p:cNvSpPr txBox="1"/>
            <p:nvPr/>
          </p:nvSpPr>
          <p:spPr>
            <a:xfrm>
              <a:off x="5083125" y="3523478"/>
              <a:ext cx="11394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</a:rPr>
                <a:t>False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1F496-1152-0261-C001-12D500759BD6}"/>
              </a:ext>
            </a:extLst>
          </p:cNvPr>
          <p:cNvSpPr/>
          <p:nvPr/>
        </p:nvSpPr>
        <p:spPr>
          <a:xfrm>
            <a:off x="6457071" y="1456885"/>
            <a:ext cx="4468835" cy="72360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 of condition set true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0BEB26-2AAC-6426-B9EA-3C4C8CD57434}"/>
              </a:ext>
            </a:extLst>
          </p:cNvPr>
          <p:cNvSpPr/>
          <p:nvPr/>
        </p:nvSpPr>
        <p:spPr>
          <a:xfrm>
            <a:off x="6457071" y="3217251"/>
            <a:ext cx="4468835" cy="723608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Output of condition set false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185114E-D569-78A5-0294-2402C5681178}"/>
              </a:ext>
            </a:extLst>
          </p:cNvPr>
          <p:cNvSpPr/>
          <p:nvPr/>
        </p:nvSpPr>
        <p:spPr>
          <a:xfrm>
            <a:off x="888608" y="4407986"/>
            <a:ext cx="10353821" cy="229772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5118ED4-FF70-8F82-9438-BE42F89E5AC0}"/>
              </a:ext>
            </a:extLst>
          </p:cNvPr>
          <p:cNvGrpSpPr/>
          <p:nvPr/>
        </p:nvGrpSpPr>
        <p:grpSpPr>
          <a:xfrm>
            <a:off x="1266093" y="4553783"/>
            <a:ext cx="9791113" cy="461665"/>
            <a:chOff x="1266093" y="4708528"/>
            <a:chExt cx="9791113" cy="46166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929C664-D8C7-031E-CDDA-BCA7885B9672}"/>
                </a:ext>
              </a:extLst>
            </p:cNvPr>
            <p:cNvSpPr/>
            <p:nvPr/>
          </p:nvSpPr>
          <p:spPr>
            <a:xfrm>
              <a:off x="1266093" y="4721814"/>
              <a:ext cx="436097" cy="396534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32A873-AF31-1CE9-1A0A-57C1964821EC}"/>
                </a:ext>
              </a:extLst>
            </p:cNvPr>
            <p:cNvSpPr txBox="1"/>
            <p:nvPr/>
          </p:nvSpPr>
          <p:spPr>
            <a:xfrm>
              <a:off x="1887414" y="4708528"/>
              <a:ext cx="916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You make the typeset output rely on some condition (define condition). 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DCB319-E92C-9446-034B-2EC354725CA7}"/>
              </a:ext>
            </a:extLst>
          </p:cNvPr>
          <p:cNvGrpSpPr/>
          <p:nvPr/>
        </p:nvGrpSpPr>
        <p:grpSpPr>
          <a:xfrm>
            <a:off x="1266093" y="5172659"/>
            <a:ext cx="9073661" cy="461665"/>
            <a:chOff x="1266093" y="5383675"/>
            <a:chExt cx="9073661" cy="461665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4C924FD-1A26-9FB7-D5D6-5F77FB20EBE4}"/>
                </a:ext>
              </a:extLst>
            </p:cNvPr>
            <p:cNvSpPr/>
            <p:nvPr/>
          </p:nvSpPr>
          <p:spPr>
            <a:xfrm>
              <a:off x="1266093" y="5422908"/>
              <a:ext cx="436097" cy="396534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1815B0C-D1B4-D9E9-65B1-8217A18093BD}"/>
                </a:ext>
              </a:extLst>
            </p:cNvPr>
            <p:cNvSpPr txBox="1"/>
            <p:nvPr/>
          </p:nvSpPr>
          <p:spPr>
            <a:xfrm>
              <a:off x="1887414" y="5383675"/>
              <a:ext cx="84523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You laydown the output content for both states of the condition.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89CC421-AF6F-0306-475E-617B627CF39D}"/>
              </a:ext>
            </a:extLst>
          </p:cNvPr>
          <p:cNvGrpSpPr/>
          <p:nvPr/>
        </p:nvGrpSpPr>
        <p:grpSpPr>
          <a:xfrm>
            <a:off x="1266092" y="5805650"/>
            <a:ext cx="9976337" cy="830997"/>
            <a:chOff x="1266092" y="5974463"/>
            <a:chExt cx="9976337" cy="830997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2FD5E06-F1C3-5FDA-B088-870D44F64CAC}"/>
                </a:ext>
              </a:extLst>
            </p:cNvPr>
            <p:cNvSpPr/>
            <p:nvPr/>
          </p:nvSpPr>
          <p:spPr>
            <a:xfrm>
              <a:off x="1266092" y="6039594"/>
              <a:ext cx="436097" cy="396534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D8952D-3AFC-089B-D2BA-2611C8CB7549}"/>
                </a:ext>
              </a:extLst>
            </p:cNvPr>
            <p:cNvSpPr txBox="1"/>
            <p:nvPr/>
          </p:nvSpPr>
          <p:spPr>
            <a:xfrm>
              <a:off x="1887413" y="5974463"/>
              <a:ext cx="93550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You choose the state of the condition (</a:t>
              </a:r>
              <a:r>
                <a:rPr lang="en-US" sz="2400" dirty="0">
                  <a:solidFill>
                    <a:schemeClr val="accent6"/>
                  </a:solidFill>
                </a:rPr>
                <a:t>True</a:t>
              </a:r>
              <a:r>
                <a:rPr lang="en-US" sz="2400" dirty="0"/>
                <a:t> or </a:t>
              </a:r>
              <a:r>
                <a:rPr lang="en-US" sz="2400" dirty="0">
                  <a:solidFill>
                    <a:srgbClr val="FF0000"/>
                  </a:solidFill>
                </a:rPr>
                <a:t>False</a:t>
              </a:r>
              <a:r>
                <a:rPr lang="en-US" sz="2400" dirty="0"/>
                <a:t>) to decide the output typeset (the if-else statement).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48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6" grpId="0" animBg="1"/>
      <p:bldP spid="17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9C6A7C-A7B8-846E-D76E-A22651F2D3C8}"/>
              </a:ext>
            </a:extLst>
          </p:cNvPr>
          <p:cNvSpPr/>
          <p:nvPr/>
        </p:nvSpPr>
        <p:spPr>
          <a:xfrm>
            <a:off x="436099" y="267285"/>
            <a:ext cx="3868616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Making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36E05-69AD-FFE7-9EA4-214349C6AA31}"/>
              </a:ext>
            </a:extLst>
          </p:cNvPr>
          <p:cNvSpPr/>
          <p:nvPr/>
        </p:nvSpPr>
        <p:spPr>
          <a:xfrm>
            <a:off x="998806" y="1237957"/>
            <a:ext cx="10424160" cy="535275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75E9EA-8843-0604-9B49-85CE59B8A683}"/>
              </a:ext>
            </a:extLst>
          </p:cNvPr>
          <p:cNvGrpSpPr/>
          <p:nvPr/>
        </p:nvGrpSpPr>
        <p:grpSpPr>
          <a:xfrm>
            <a:off x="1828800" y="1505241"/>
            <a:ext cx="9847384" cy="534573"/>
            <a:chOff x="1828800" y="1772529"/>
            <a:chExt cx="9847384" cy="53457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200EADD-181D-E4B4-A8D1-4253230E84CA}"/>
                </a:ext>
              </a:extLst>
            </p:cNvPr>
            <p:cNvSpPr/>
            <p:nvPr/>
          </p:nvSpPr>
          <p:spPr>
            <a:xfrm>
              <a:off x="1828800" y="1772529"/>
              <a:ext cx="520505" cy="534573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1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2FD3CF2-69C6-3AC2-9B16-BE54C80679E8}"/>
                </a:ext>
              </a:extLst>
            </p:cNvPr>
            <p:cNvSpPr txBox="1"/>
            <p:nvPr/>
          </p:nvSpPr>
          <p:spPr>
            <a:xfrm>
              <a:off x="2518117" y="1798877"/>
              <a:ext cx="91580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Defining the Condition:  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newif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 \if&lt;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switch_name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&gt;</a:t>
              </a:r>
              <a:endParaRPr lang="en-US" sz="24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B9E4F0B-0B28-4994-4322-6DA0F771D734}"/>
              </a:ext>
            </a:extLst>
          </p:cNvPr>
          <p:cNvGrpSpPr/>
          <p:nvPr/>
        </p:nvGrpSpPr>
        <p:grpSpPr>
          <a:xfrm>
            <a:off x="1849902" y="2489982"/>
            <a:ext cx="7941212" cy="875771"/>
            <a:chOff x="1849902" y="2658795"/>
            <a:chExt cx="7941212" cy="875771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2D0BF51-FCFF-4AE6-1930-37E6363372F5}"/>
                </a:ext>
              </a:extLst>
            </p:cNvPr>
            <p:cNvSpPr/>
            <p:nvPr/>
          </p:nvSpPr>
          <p:spPr>
            <a:xfrm>
              <a:off x="1849902" y="2658795"/>
              <a:ext cx="520505" cy="534573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AC3C5D-938A-519A-D3A3-EED533B787C1}"/>
                </a:ext>
              </a:extLst>
            </p:cNvPr>
            <p:cNvSpPr txBox="1"/>
            <p:nvPr/>
          </p:nvSpPr>
          <p:spPr>
            <a:xfrm>
              <a:off x="2518117" y="2703569"/>
              <a:ext cx="72729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Setting the state of the condition: either </a:t>
              </a:r>
              <a:r>
                <a:rPr lang="en-US" sz="2400" dirty="0">
                  <a:solidFill>
                    <a:schemeClr val="accent6"/>
                  </a:solidFill>
                </a:rPr>
                <a:t>\&lt;switch&gt;true </a:t>
              </a:r>
              <a:r>
                <a:rPr lang="en-US" sz="2400" dirty="0"/>
                <a:t>or </a:t>
              </a:r>
              <a:r>
                <a:rPr lang="en-US" sz="2400" dirty="0">
                  <a:solidFill>
                    <a:srgbClr val="FF0000"/>
                  </a:solidFill>
                </a:rPr>
                <a:t>\&lt;switch&gt;false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AB2455-3FCB-88C6-98D0-5DB65EA6DCA5}"/>
              </a:ext>
            </a:extLst>
          </p:cNvPr>
          <p:cNvGrpSpPr/>
          <p:nvPr/>
        </p:nvGrpSpPr>
        <p:grpSpPr>
          <a:xfrm>
            <a:off x="1831145" y="3545056"/>
            <a:ext cx="7186246" cy="1026126"/>
            <a:chOff x="1831145" y="3840479"/>
            <a:chExt cx="7186246" cy="102612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70B88D-8B5E-063B-553E-27E83AE33FBA}"/>
                </a:ext>
              </a:extLst>
            </p:cNvPr>
            <p:cNvSpPr/>
            <p:nvPr/>
          </p:nvSpPr>
          <p:spPr>
            <a:xfrm>
              <a:off x="1831145" y="3840479"/>
              <a:ext cx="520505" cy="534573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3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A057FA-AE88-0F0B-7F26-37C02AFB5E73}"/>
                </a:ext>
              </a:extLst>
            </p:cNvPr>
            <p:cNvSpPr txBox="1"/>
            <p:nvPr/>
          </p:nvSpPr>
          <p:spPr>
            <a:xfrm>
              <a:off x="2518116" y="3912498"/>
              <a:ext cx="6499275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Making the decision for the output typeset:</a:t>
              </a:r>
            </a:p>
            <a:p>
              <a:endParaRPr lang="en-US" sz="800" dirty="0"/>
            </a:p>
            <a:p>
              <a:r>
                <a:rPr lang="en-US" sz="2400" dirty="0"/>
                <a:t>	</a:t>
              </a:r>
              <a:endParaRPr lang="en-US" sz="2400" dirty="0">
                <a:solidFill>
                  <a:srgbClr val="9F0003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59F1565D-CEE1-6F0F-8964-A0969DCD41FD}"/>
              </a:ext>
            </a:extLst>
          </p:cNvPr>
          <p:cNvSpPr txBox="1"/>
          <p:nvPr/>
        </p:nvSpPr>
        <p:spPr>
          <a:xfrm>
            <a:off x="2072638" y="4240801"/>
            <a:ext cx="7139353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[1] 	</a:t>
            </a:r>
            <a:r>
              <a:rPr lang="en-US" sz="2400" dirty="0">
                <a:solidFill>
                  <a:srgbClr val="9F0003"/>
                </a:solidFill>
              </a:rPr>
              <a:t>\if&lt;switch&gt;  </a:t>
            </a:r>
            <a:r>
              <a:rPr lang="en-US" sz="2400" dirty="0">
                <a:solidFill>
                  <a:schemeClr val="accent6"/>
                </a:solidFill>
              </a:rPr>
              <a:t>% meaning if true</a:t>
            </a:r>
          </a:p>
          <a:p>
            <a:r>
              <a:rPr lang="en-US" sz="2400" dirty="0">
                <a:solidFill>
                  <a:schemeClr val="accent6"/>
                </a:solidFill>
              </a:rPr>
              <a:t>			</a:t>
            </a:r>
            <a:r>
              <a:rPr lang="en-US" sz="2400" dirty="0"/>
              <a:t>Content</a:t>
            </a:r>
            <a:r>
              <a:rPr lang="en-US" sz="2400" dirty="0">
                <a:solidFill>
                  <a:schemeClr val="accent6"/>
                </a:solidFill>
              </a:rPr>
              <a:t> if true</a:t>
            </a:r>
            <a:r>
              <a:rPr lang="en-US" sz="2400" dirty="0"/>
              <a:t>………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[2]	</a:t>
            </a:r>
            <a:r>
              <a:rPr lang="en-US" sz="2400" dirty="0">
                <a:solidFill>
                  <a:srgbClr val="9F0003"/>
                </a:solidFill>
              </a:rPr>
              <a:t>\else</a:t>
            </a:r>
          </a:p>
          <a:p>
            <a:r>
              <a:rPr lang="en-US" sz="2400" dirty="0">
                <a:solidFill>
                  <a:srgbClr val="9F0003"/>
                </a:solidFill>
              </a:rPr>
              <a:t>			</a:t>
            </a:r>
            <a:r>
              <a:rPr lang="en-US" sz="2400" dirty="0"/>
              <a:t>Content otherwise </a:t>
            </a:r>
            <a:r>
              <a:rPr lang="en-US" sz="2400" dirty="0">
                <a:solidFill>
                  <a:srgbClr val="9F0003"/>
                </a:solidFill>
              </a:rPr>
              <a:t>(if </a:t>
            </a:r>
            <a:r>
              <a:rPr lang="en-US" sz="2400" dirty="0" err="1">
                <a:solidFill>
                  <a:srgbClr val="9F0003"/>
                </a:solidFill>
              </a:rPr>
              <a:t>flase</a:t>
            </a:r>
            <a:r>
              <a:rPr lang="en-US" sz="2400" dirty="0">
                <a:solidFill>
                  <a:srgbClr val="9F0003"/>
                </a:solidFill>
              </a:rPr>
              <a:t>)</a:t>
            </a:r>
            <a:r>
              <a:rPr lang="en-US" sz="2400" dirty="0"/>
              <a:t>.</a:t>
            </a:r>
          </a:p>
          <a:p>
            <a:endParaRPr lang="en-US" sz="800" dirty="0"/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[3]	</a:t>
            </a:r>
            <a:r>
              <a:rPr lang="en-US" sz="2400" dirty="0">
                <a:solidFill>
                  <a:srgbClr val="9F0003"/>
                </a:solidFill>
              </a:rPr>
              <a:t>\fi</a:t>
            </a:r>
          </a:p>
          <a:p>
            <a:endParaRPr lang="en-US" sz="2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BF31240-7201-014A-3374-D4DFFBEB7145}"/>
              </a:ext>
            </a:extLst>
          </p:cNvPr>
          <p:cNvGrpSpPr/>
          <p:nvPr/>
        </p:nvGrpSpPr>
        <p:grpSpPr>
          <a:xfrm>
            <a:off x="4465319" y="5942168"/>
            <a:ext cx="2604867" cy="301264"/>
            <a:chOff x="4216789" y="6139118"/>
            <a:chExt cx="2604867" cy="301264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C72E1E8-4630-281D-0DE2-A28AF6266C78}"/>
                </a:ext>
              </a:extLst>
            </p:cNvPr>
            <p:cNvSpPr/>
            <p:nvPr/>
          </p:nvSpPr>
          <p:spPr>
            <a:xfrm>
              <a:off x="4913139" y="6139118"/>
              <a:ext cx="1908517" cy="30126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Closing Statement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337CA0B-0381-3787-02E3-808C4724EE4B}"/>
                </a:ext>
              </a:extLst>
            </p:cNvPr>
            <p:cNvCxnSpPr/>
            <p:nvPr/>
          </p:nvCxnSpPr>
          <p:spPr>
            <a:xfrm>
              <a:off x="4216789" y="6289750"/>
              <a:ext cx="6963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940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DFBA54-5D6D-38F9-BFC2-32ECBE1C11E0}"/>
              </a:ext>
            </a:extLst>
          </p:cNvPr>
          <p:cNvSpPr/>
          <p:nvPr/>
        </p:nvSpPr>
        <p:spPr>
          <a:xfrm>
            <a:off x="436099" y="267285"/>
            <a:ext cx="3868616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ifthen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B20D9B-4324-80B7-7DA2-B9FEA135A0AE}"/>
              </a:ext>
            </a:extLst>
          </p:cNvPr>
          <p:cNvSpPr/>
          <p:nvPr/>
        </p:nvSpPr>
        <p:spPr>
          <a:xfrm>
            <a:off x="1561514" y="2672863"/>
            <a:ext cx="9861452" cy="38404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609613-641A-B6F3-965B-78F636B10C32}"/>
              </a:ext>
            </a:extLst>
          </p:cNvPr>
          <p:cNvGrpSpPr/>
          <p:nvPr/>
        </p:nvGrpSpPr>
        <p:grpSpPr>
          <a:xfrm>
            <a:off x="1561514" y="1364566"/>
            <a:ext cx="9861452" cy="914400"/>
            <a:chOff x="1561514" y="2883877"/>
            <a:chExt cx="9861452" cy="91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097E474-70AE-AE87-80C5-0A906DE59290}"/>
                </a:ext>
              </a:extLst>
            </p:cNvPr>
            <p:cNvSpPr/>
            <p:nvPr/>
          </p:nvSpPr>
          <p:spPr>
            <a:xfrm>
              <a:off x="1561514" y="2883877"/>
              <a:ext cx="9861452" cy="9144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415D638-C616-8B8B-6DB4-72C9E9E85246}"/>
                </a:ext>
              </a:extLst>
            </p:cNvPr>
            <p:cNvSpPr txBox="1"/>
            <p:nvPr/>
          </p:nvSpPr>
          <p:spPr>
            <a:xfrm>
              <a:off x="1969477" y="3017911"/>
              <a:ext cx="9144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3600" dirty="0" err="1">
                  <a:solidFill>
                    <a:srgbClr val="9F0003"/>
                  </a:solidFill>
                  <a:effectLst/>
                </a:rPr>
                <a:t>ifthenelse</a:t>
              </a:r>
              <a:r>
                <a:rPr lang="en-US" sz="3600" dirty="0">
                  <a:effectLst/>
                </a:rPr>
                <a:t>{&lt;test&gt;}{&lt;then clause&gt;}{else clause}</a:t>
              </a:r>
              <a:endParaRPr lang="en-US" sz="36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177A7F1-39A8-4CD6-1F60-7665C8A06E62}"/>
              </a:ext>
            </a:extLst>
          </p:cNvPr>
          <p:cNvGrpSpPr/>
          <p:nvPr/>
        </p:nvGrpSpPr>
        <p:grpSpPr>
          <a:xfrm>
            <a:off x="1969477" y="3052691"/>
            <a:ext cx="9144000" cy="562707"/>
            <a:chOff x="1969477" y="2982351"/>
            <a:chExt cx="9144000" cy="56270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8326956-84F0-CD1B-80A4-A844CEF9A563}"/>
                </a:ext>
              </a:extLst>
            </p:cNvPr>
            <p:cNvSpPr/>
            <p:nvPr/>
          </p:nvSpPr>
          <p:spPr>
            <a:xfrm>
              <a:off x="1969477" y="2982351"/>
              <a:ext cx="548640" cy="562707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49BB07-6365-6E9F-11FD-7C0EAC10935B}"/>
                </a:ext>
              </a:extLst>
            </p:cNvPr>
            <p:cNvSpPr txBox="1"/>
            <p:nvPr/>
          </p:nvSpPr>
          <p:spPr>
            <a:xfrm>
              <a:off x="2757268" y="2982351"/>
              <a:ext cx="835620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Define a new Boolean: </a:t>
              </a:r>
              <a:r>
                <a:rPr lang="en-US" sz="28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800" dirty="0" err="1">
                  <a:solidFill>
                    <a:srgbClr val="9F0003"/>
                  </a:solidFill>
                  <a:effectLst/>
                </a:rPr>
                <a:t>newboolean</a:t>
              </a:r>
              <a:r>
                <a:rPr lang="en-US" sz="2800" dirty="0">
                  <a:solidFill>
                    <a:srgbClr val="000000"/>
                  </a:solidFill>
                  <a:effectLst/>
                </a:rPr>
                <a:t>{&lt;name&gt;}</a:t>
              </a:r>
              <a:endParaRPr lang="en-US" sz="28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DAD8D9-9FC2-39E4-FB06-532A41C26081}"/>
              </a:ext>
            </a:extLst>
          </p:cNvPr>
          <p:cNvGrpSpPr/>
          <p:nvPr/>
        </p:nvGrpSpPr>
        <p:grpSpPr>
          <a:xfrm>
            <a:off x="1969477" y="3899468"/>
            <a:ext cx="9144000" cy="562707"/>
            <a:chOff x="1969477" y="2982351"/>
            <a:chExt cx="9144000" cy="562707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9DCBDFC-62F0-18E4-774D-9573A85B3B43}"/>
                </a:ext>
              </a:extLst>
            </p:cNvPr>
            <p:cNvSpPr/>
            <p:nvPr/>
          </p:nvSpPr>
          <p:spPr>
            <a:xfrm>
              <a:off x="1969477" y="2982351"/>
              <a:ext cx="548640" cy="562707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8980A54-7E19-E374-3551-1518986FA932}"/>
                </a:ext>
              </a:extLst>
            </p:cNvPr>
            <p:cNvSpPr txBox="1"/>
            <p:nvPr/>
          </p:nvSpPr>
          <p:spPr>
            <a:xfrm>
              <a:off x="2757268" y="3038623"/>
              <a:ext cx="83562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Set the State of Boolean: 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setboolean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{&lt;name&gt;}{&lt;</a:t>
              </a:r>
              <a:r>
                <a:rPr lang="en-US" sz="2400" dirty="0">
                  <a:solidFill>
                    <a:schemeClr val="accent6"/>
                  </a:solidFill>
                  <a:effectLst/>
                </a:rPr>
                <a:t>true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 or </a:t>
              </a:r>
              <a:r>
                <a:rPr lang="en-US" sz="2400" dirty="0">
                  <a:solidFill>
                    <a:srgbClr val="FF0000"/>
                  </a:solidFill>
                  <a:effectLst/>
                </a:rPr>
                <a:t>false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&gt;}</a:t>
              </a:r>
              <a:endParaRPr lang="en-US" sz="2400" dirty="0"/>
            </a:p>
          </p:txBody>
        </p:sp>
      </p:grpSp>
      <p:sp>
        <p:nvSpPr>
          <p:cNvPr id="16" name="Callout: Line 15">
            <a:extLst>
              <a:ext uri="{FF2B5EF4-FFF2-40B4-BE49-F238E27FC236}">
                <a16:creationId xmlns:a16="http://schemas.microsoft.com/office/drawing/2014/main" id="{14A00FE4-1635-1385-9BD8-80A37C26B0B7}"/>
              </a:ext>
            </a:extLst>
          </p:cNvPr>
          <p:cNvSpPr/>
          <p:nvPr/>
        </p:nvSpPr>
        <p:spPr>
          <a:xfrm>
            <a:off x="10161563" y="2985068"/>
            <a:ext cx="1903828" cy="914400"/>
          </a:xfrm>
          <a:prstGeom prst="borderCallout1">
            <a:avLst/>
          </a:prstGeom>
          <a:ln w="38100">
            <a:solidFill>
              <a:srgbClr val="F59D9D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 case sensitive, type them as you like.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A2A48B6-A745-35F2-32E3-D134EBAD104D}"/>
              </a:ext>
            </a:extLst>
          </p:cNvPr>
          <p:cNvGrpSpPr/>
          <p:nvPr/>
        </p:nvGrpSpPr>
        <p:grpSpPr>
          <a:xfrm>
            <a:off x="1969477" y="4726264"/>
            <a:ext cx="9144000" cy="1625932"/>
            <a:chOff x="1969477" y="2982351"/>
            <a:chExt cx="9144000" cy="1625932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9BB293A-1EDA-BB36-5EEA-A69D1EDF3838}"/>
                </a:ext>
              </a:extLst>
            </p:cNvPr>
            <p:cNvSpPr/>
            <p:nvPr/>
          </p:nvSpPr>
          <p:spPr>
            <a:xfrm>
              <a:off x="1969477" y="2982351"/>
              <a:ext cx="548640" cy="562707"/>
            </a:xfrm>
            <a:prstGeom prst="ellipse">
              <a:avLst/>
            </a:prstGeom>
            <a:solidFill>
              <a:srgbClr val="F59D9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3E86AB1-EDFB-362F-E657-049FDB6BE6F3}"/>
                </a:ext>
              </a:extLst>
            </p:cNvPr>
            <p:cNvSpPr txBox="1"/>
            <p:nvPr/>
          </p:nvSpPr>
          <p:spPr>
            <a:xfrm>
              <a:off x="2757268" y="3038623"/>
              <a:ext cx="835620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The Conditional Statement:</a:t>
              </a:r>
            </a:p>
            <a:p>
              <a:r>
                <a:rPr lang="en-US" sz="2400" dirty="0"/>
                <a:t>	 </a:t>
              </a:r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ifthenelse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  </a:t>
              </a:r>
              <a:r>
                <a:rPr lang="en-US" sz="2400" dirty="0">
                  <a:solidFill>
                    <a:schemeClr val="accent1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chemeClr val="accent1"/>
                  </a:solidFill>
                  <a:effectLst/>
                </a:rPr>
                <a:t>boolean</a:t>
              </a:r>
              <a:r>
                <a:rPr lang="en-US" sz="2400" dirty="0">
                  <a:solidFill>
                    <a:srgbClr val="000000"/>
                  </a:solidFill>
                  <a:effectLst/>
                </a:rPr>
                <a:t>{&lt;name&gt;}  } </a:t>
              </a:r>
            </a:p>
            <a:p>
              <a:r>
                <a:rPr lang="en-US" sz="2400" dirty="0">
                  <a:solidFill>
                    <a:srgbClr val="000000"/>
                  </a:solidFill>
                </a:rPr>
                <a:t>		{</a:t>
              </a:r>
              <a:r>
                <a:rPr lang="en-US" sz="2400" dirty="0">
                  <a:solidFill>
                    <a:schemeClr val="accent6"/>
                  </a:solidFill>
                </a:rPr>
                <a:t>Content if test is true</a:t>
              </a:r>
              <a:r>
                <a:rPr lang="en-US" sz="2400" dirty="0">
                  <a:solidFill>
                    <a:srgbClr val="000000"/>
                  </a:solidFill>
                </a:rPr>
                <a:t>}</a:t>
              </a:r>
            </a:p>
            <a:p>
              <a:r>
                <a:rPr lang="en-US" sz="2400" dirty="0">
                  <a:solidFill>
                    <a:srgbClr val="000000"/>
                  </a:solidFill>
                </a:rPr>
                <a:t>		{</a:t>
              </a:r>
              <a:r>
                <a:rPr lang="en-US" sz="2400" dirty="0">
                  <a:solidFill>
                    <a:srgbClr val="FF0000"/>
                  </a:solidFill>
                </a:rPr>
                <a:t>Content if test is false</a:t>
              </a:r>
              <a:r>
                <a:rPr lang="en-US" sz="2400" dirty="0">
                  <a:solidFill>
                    <a:srgbClr val="000000"/>
                  </a:solidFill>
                </a:rPr>
                <a:t>}</a:t>
              </a:r>
              <a:endParaRPr lang="en-US" sz="2400" dirty="0"/>
            </a:p>
          </p:txBody>
        </p:sp>
      </p:grpSp>
      <p:sp>
        <p:nvSpPr>
          <p:cNvPr id="27" name="Callout: Line 26">
            <a:extLst>
              <a:ext uri="{FF2B5EF4-FFF2-40B4-BE49-F238E27FC236}">
                <a16:creationId xmlns:a16="http://schemas.microsoft.com/office/drawing/2014/main" id="{3BFE2636-6A5E-C771-0D4A-9F01197F6EE8}"/>
              </a:ext>
            </a:extLst>
          </p:cNvPr>
          <p:cNvSpPr/>
          <p:nvPr/>
        </p:nvSpPr>
        <p:spPr>
          <a:xfrm>
            <a:off x="7787933" y="4621389"/>
            <a:ext cx="2587967" cy="562707"/>
          </a:xfrm>
          <a:prstGeom prst="borderCallout1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The Test</a:t>
            </a:r>
          </a:p>
        </p:txBody>
      </p:sp>
    </p:spTree>
    <p:extLst>
      <p:ext uri="{BB962C8B-B14F-4D97-AF65-F5344CB8AC3E}">
        <p14:creationId xmlns:p14="http://schemas.microsoft.com/office/powerpoint/2010/main" val="271469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0D894E-891A-4CC5-415D-53912B76AEBB}"/>
              </a:ext>
            </a:extLst>
          </p:cNvPr>
          <p:cNvSpPr/>
          <p:nvPr/>
        </p:nvSpPr>
        <p:spPr>
          <a:xfrm>
            <a:off x="436099" y="267285"/>
            <a:ext cx="3868616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of Test Cases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47E72BD-C221-E77D-C39E-DB2F2FECD50B}"/>
              </a:ext>
            </a:extLst>
          </p:cNvPr>
          <p:cNvGrpSpPr/>
          <p:nvPr/>
        </p:nvGrpSpPr>
        <p:grpSpPr>
          <a:xfrm>
            <a:off x="1589845" y="1181393"/>
            <a:ext cx="6627053" cy="571501"/>
            <a:chOff x="1561514" y="2883877"/>
            <a:chExt cx="9861452" cy="9144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E497B41-9804-81B3-0F4F-2D9EB9B9FD35}"/>
                </a:ext>
              </a:extLst>
            </p:cNvPr>
            <p:cNvSpPr/>
            <p:nvPr/>
          </p:nvSpPr>
          <p:spPr>
            <a:xfrm>
              <a:off x="1561514" y="2883877"/>
              <a:ext cx="9861452" cy="91440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784F66-2986-DD11-002B-2198834F8485}"/>
                </a:ext>
              </a:extLst>
            </p:cNvPr>
            <p:cNvSpPr txBox="1"/>
            <p:nvPr/>
          </p:nvSpPr>
          <p:spPr>
            <a:xfrm>
              <a:off x="1969476" y="3017911"/>
              <a:ext cx="9144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9F0003"/>
                  </a:solidFill>
                  <a:effectLst/>
                </a:rPr>
                <a:t>\</a:t>
              </a:r>
              <a:r>
                <a:rPr lang="en-US" sz="2400" dirty="0" err="1">
                  <a:solidFill>
                    <a:srgbClr val="9F0003"/>
                  </a:solidFill>
                  <a:effectLst/>
                </a:rPr>
                <a:t>ifthenelse</a:t>
              </a:r>
              <a:r>
                <a:rPr lang="en-US" sz="2400" dirty="0">
                  <a:effectLst/>
                </a:rPr>
                <a:t>{&lt;</a:t>
              </a:r>
              <a:r>
                <a:rPr lang="en-US" sz="2400" dirty="0">
                  <a:solidFill>
                    <a:schemeClr val="accent1"/>
                  </a:solidFill>
                  <a:effectLst/>
                </a:rPr>
                <a:t>test</a:t>
              </a:r>
              <a:r>
                <a:rPr lang="en-US" sz="2400" dirty="0">
                  <a:effectLst/>
                </a:rPr>
                <a:t>&gt;}{&lt;then clause&gt;}{else clause}</a:t>
              </a:r>
              <a:endParaRPr lang="en-US" sz="2400" dirty="0"/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4FC8EB-CEA2-41E9-0BEA-04655F819EBC}"/>
              </a:ext>
            </a:extLst>
          </p:cNvPr>
          <p:cNvCxnSpPr>
            <a:cxnSpLocks/>
          </p:cNvCxnSpPr>
          <p:nvPr/>
        </p:nvCxnSpPr>
        <p:spPr>
          <a:xfrm>
            <a:off x="3746500" y="1638300"/>
            <a:ext cx="0" cy="4191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79517C1-8576-A2FA-A242-BA1BC2D298D5}"/>
              </a:ext>
            </a:extLst>
          </p:cNvPr>
          <p:cNvGrpSpPr/>
          <p:nvPr/>
        </p:nvGrpSpPr>
        <p:grpSpPr>
          <a:xfrm>
            <a:off x="1409700" y="2171700"/>
            <a:ext cx="9639299" cy="622300"/>
            <a:chOff x="1409700" y="2171700"/>
            <a:chExt cx="9639299" cy="622300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1FD6EBF-1658-8F73-D187-98C4C4F86569}"/>
                </a:ext>
              </a:extLst>
            </p:cNvPr>
            <p:cNvGrpSpPr/>
            <p:nvPr/>
          </p:nvGrpSpPr>
          <p:grpSpPr>
            <a:xfrm>
              <a:off x="1409700" y="2171700"/>
              <a:ext cx="9639299" cy="622300"/>
              <a:chOff x="1409700" y="2387600"/>
              <a:chExt cx="9639299" cy="622300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3394E51-BA65-4E3A-5884-0170792CB0C4}"/>
                  </a:ext>
                </a:extLst>
              </p:cNvPr>
              <p:cNvSpPr/>
              <p:nvPr/>
            </p:nvSpPr>
            <p:spPr>
              <a:xfrm>
                <a:off x="1409700" y="2463800"/>
                <a:ext cx="444500" cy="4699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1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DD9122E-4143-5084-2B47-6F1B635AF1AF}"/>
                  </a:ext>
                </a:extLst>
              </p:cNvPr>
              <p:cNvSpPr/>
              <p:nvPr/>
            </p:nvSpPr>
            <p:spPr>
              <a:xfrm>
                <a:off x="2041780" y="2387600"/>
                <a:ext cx="9007219" cy="6223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73764EC6-1789-DB78-DEF6-B093959EA789}"/>
                  </a:ext>
                </a:extLst>
              </p:cNvPr>
              <p:cNvSpPr/>
              <p:nvPr/>
            </p:nvSpPr>
            <p:spPr>
              <a:xfrm>
                <a:off x="2041780" y="2387600"/>
                <a:ext cx="1692020" cy="622300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effectLst/>
                  </a:rPr>
                  <a:t>Comparing Strings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E6ED5AA-F796-CA4F-D02B-48D0C8B16DC8}"/>
                </a:ext>
              </a:extLst>
            </p:cNvPr>
            <p:cNvSpPr txBox="1"/>
            <p:nvPr/>
          </p:nvSpPr>
          <p:spPr>
            <a:xfrm>
              <a:off x="3835400" y="2235199"/>
              <a:ext cx="7086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  <a:effectLst/>
                </a:rPr>
                <a:t>\equal</a:t>
              </a:r>
              <a:r>
                <a:rPr lang="en-US" sz="2400" dirty="0">
                  <a:effectLst/>
                </a:rPr>
                <a:t>{&lt;string1&gt;}{&lt;string2&gt;}</a:t>
              </a:r>
              <a:endParaRPr lang="en-US" sz="24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323FF3B-2E41-B780-C274-44EB25C2731F}"/>
              </a:ext>
            </a:extLst>
          </p:cNvPr>
          <p:cNvGrpSpPr/>
          <p:nvPr/>
        </p:nvGrpSpPr>
        <p:grpSpPr>
          <a:xfrm>
            <a:off x="1409700" y="3101829"/>
            <a:ext cx="9639299" cy="622300"/>
            <a:chOff x="1409700" y="3101829"/>
            <a:chExt cx="9639299" cy="6223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19C19C-ABCA-89A2-55E0-2C671DACB2E9}"/>
                </a:ext>
              </a:extLst>
            </p:cNvPr>
            <p:cNvGrpSpPr/>
            <p:nvPr/>
          </p:nvGrpSpPr>
          <p:grpSpPr>
            <a:xfrm>
              <a:off x="1409700" y="3101829"/>
              <a:ext cx="9639299" cy="622300"/>
              <a:chOff x="1409700" y="3305029"/>
              <a:chExt cx="9639299" cy="6223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E0C0E16-EA26-6337-25EA-6313757B53D2}"/>
                  </a:ext>
                </a:extLst>
              </p:cNvPr>
              <p:cNvSpPr/>
              <p:nvPr/>
            </p:nvSpPr>
            <p:spPr>
              <a:xfrm>
                <a:off x="1409700" y="3381229"/>
                <a:ext cx="444500" cy="4699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2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0CD039C-0601-F001-BEA9-25E84174A961}"/>
                  </a:ext>
                </a:extLst>
              </p:cNvPr>
              <p:cNvSpPr/>
              <p:nvPr/>
            </p:nvSpPr>
            <p:spPr>
              <a:xfrm>
                <a:off x="2041780" y="3305029"/>
                <a:ext cx="9007219" cy="6223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85495D3-60BF-80C4-986D-E90723A77786}"/>
                  </a:ext>
                </a:extLst>
              </p:cNvPr>
              <p:cNvSpPr/>
              <p:nvPr/>
            </p:nvSpPr>
            <p:spPr>
              <a:xfrm>
                <a:off x="2041780" y="3305029"/>
                <a:ext cx="1692020" cy="622300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effectLst/>
                  </a:rPr>
                  <a:t>Comparing Numbers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5B65B9B-6643-B6FD-B0D5-080D91E25A3C}"/>
                </a:ext>
              </a:extLst>
            </p:cNvPr>
            <p:cNvSpPr txBox="1"/>
            <p:nvPr/>
          </p:nvSpPr>
          <p:spPr>
            <a:xfrm>
              <a:off x="3835400" y="3178029"/>
              <a:ext cx="53594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</a:t>
              </a:r>
              <a:r>
                <a:rPr lang="en-US" sz="2400" dirty="0">
                  <a:effectLst/>
                </a:rPr>
                <a:t>umber_1 &lt;=&gt; number_2</a:t>
              </a:r>
              <a:endParaRPr lang="en-US" sz="2400" dirty="0"/>
            </a:p>
          </p:txBody>
        </p:sp>
      </p:grpSp>
      <p:sp>
        <p:nvSpPr>
          <p:cNvPr id="38" name="Speech Bubble: Rectangle with Corners Rounded 37">
            <a:extLst>
              <a:ext uri="{FF2B5EF4-FFF2-40B4-BE49-F238E27FC236}">
                <a16:creationId xmlns:a16="http://schemas.microsoft.com/office/drawing/2014/main" id="{F2FCC7D7-D330-65FC-D1CA-DB56287757E0}"/>
              </a:ext>
            </a:extLst>
          </p:cNvPr>
          <p:cNvSpPr/>
          <p:nvPr/>
        </p:nvSpPr>
        <p:spPr>
          <a:xfrm>
            <a:off x="8788401" y="317794"/>
            <a:ext cx="2967500" cy="1435100"/>
          </a:xfrm>
          <a:prstGeom prst="wedgeRoundRectCallout">
            <a:avLst>
              <a:gd name="adj1" fmla="val -21261"/>
              <a:gd name="adj2" fmla="val 74890"/>
              <a:gd name="adj3" fmla="val 16667"/>
            </a:avLst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If any test evaluated to true, </a:t>
            </a:r>
            <a:r>
              <a:rPr lang="en-US" b="1" u="sng" dirty="0"/>
              <a:t>then clause </a:t>
            </a:r>
            <a:r>
              <a:rPr lang="en-US" dirty="0"/>
              <a:t>is carried out. Otherwise, </a:t>
            </a:r>
            <a:r>
              <a:rPr lang="en-US" b="1" u="sng" dirty="0"/>
              <a:t>else clause </a:t>
            </a:r>
            <a:r>
              <a:rPr lang="en-US" dirty="0"/>
              <a:t>is typeset.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8E60C8-B027-F27A-E060-C98936ED8BF9}"/>
              </a:ext>
            </a:extLst>
          </p:cNvPr>
          <p:cNvGrpSpPr/>
          <p:nvPr/>
        </p:nvGrpSpPr>
        <p:grpSpPr>
          <a:xfrm>
            <a:off x="1409700" y="3993858"/>
            <a:ext cx="9639299" cy="622300"/>
            <a:chOff x="1409700" y="3993858"/>
            <a:chExt cx="9639299" cy="62230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5DA21F8-0DE0-F583-766E-921B750E1B3D}"/>
                </a:ext>
              </a:extLst>
            </p:cNvPr>
            <p:cNvGrpSpPr/>
            <p:nvPr/>
          </p:nvGrpSpPr>
          <p:grpSpPr>
            <a:xfrm>
              <a:off x="1409700" y="3993858"/>
              <a:ext cx="9639299" cy="622300"/>
              <a:chOff x="1409700" y="4197058"/>
              <a:chExt cx="9639299" cy="622300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9ECF4893-8868-7DEB-ED32-8FF885D8A375}"/>
                  </a:ext>
                </a:extLst>
              </p:cNvPr>
              <p:cNvSpPr/>
              <p:nvPr/>
            </p:nvSpPr>
            <p:spPr>
              <a:xfrm>
                <a:off x="1409700" y="4273258"/>
                <a:ext cx="444500" cy="4699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3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B4CFE57E-CDC5-FFCF-C5FF-EEADCD22A9C3}"/>
                  </a:ext>
                </a:extLst>
              </p:cNvPr>
              <p:cNvSpPr/>
              <p:nvPr/>
            </p:nvSpPr>
            <p:spPr>
              <a:xfrm>
                <a:off x="2041780" y="4197058"/>
                <a:ext cx="9007219" cy="6223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8168C79-F4C7-4C76-8B84-5BFF917915A6}"/>
                  </a:ext>
                </a:extLst>
              </p:cNvPr>
              <p:cNvSpPr/>
              <p:nvPr/>
            </p:nvSpPr>
            <p:spPr>
              <a:xfrm>
                <a:off x="2041780" y="4197058"/>
                <a:ext cx="1692020" cy="622300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effectLst/>
                  </a:rPr>
                  <a:t>Comparing Lengths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4434659-9E86-C12F-CA03-A9A1E106821B}"/>
                </a:ext>
              </a:extLst>
            </p:cNvPr>
            <p:cNvSpPr txBox="1"/>
            <p:nvPr/>
          </p:nvSpPr>
          <p:spPr>
            <a:xfrm>
              <a:off x="3835400" y="4070058"/>
              <a:ext cx="631482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\</a:t>
              </a:r>
              <a:r>
                <a:rPr lang="en-US" sz="2400" dirty="0" err="1">
                  <a:solidFill>
                    <a:srgbClr val="C00000"/>
                  </a:solidFill>
                </a:rPr>
                <a:t>lengthtest</a:t>
              </a:r>
              <a:r>
                <a:rPr lang="en-US" sz="2400" dirty="0">
                  <a:effectLst/>
                </a:rPr>
                <a:t>{dim1 &lt;=&gt; dim2}</a:t>
              </a:r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9C96D44-E591-5B7A-8331-01FB44EC8234}"/>
              </a:ext>
            </a:extLst>
          </p:cNvPr>
          <p:cNvGrpSpPr/>
          <p:nvPr/>
        </p:nvGrpSpPr>
        <p:grpSpPr>
          <a:xfrm>
            <a:off x="1409700" y="4866837"/>
            <a:ext cx="9969500" cy="622300"/>
            <a:chOff x="1409700" y="4866837"/>
            <a:chExt cx="9969500" cy="6223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46BA102-D646-F30A-D28B-157BB4BF050D}"/>
                </a:ext>
              </a:extLst>
            </p:cNvPr>
            <p:cNvGrpSpPr/>
            <p:nvPr/>
          </p:nvGrpSpPr>
          <p:grpSpPr>
            <a:xfrm>
              <a:off x="1409700" y="4866837"/>
              <a:ext cx="9639299" cy="622300"/>
              <a:chOff x="1409700" y="4993837"/>
              <a:chExt cx="9639299" cy="622300"/>
            </a:xfrm>
          </p:grpSpPr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2C5FA500-6D82-1457-6279-0A433A0255B6}"/>
                  </a:ext>
                </a:extLst>
              </p:cNvPr>
              <p:cNvSpPr/>
              <p:nvPr/>
            </p:nvSpPr>
            <p:spPr>
              <a:xfrm>
                <a:off x="1409700" y="5070037"/>
                <a:ext cx="444500" cy="4699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4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36D9B5D-1088-D9D7-F700-3D20FFC6FF5E}"/>
                  </a:ext>
                </a:extLst>
              </p:cNvPr>
              <p:cNvSpPr/>
              <p:nvPr/>
            </p:nvSpPr>
            <p:spPr>
              <a:xfrm>
                <a:off x="2041780" y="4993837"/>
                <a:ext cx="9007219" cy="6223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9896862-2347-08B6-D5DA-32BC6FCA0C99}"/>
                  </a:ext>
                </a:extLst>
              </p:cNvPr>
              <p:cNvSpPr/>
              <p:nvPr/>
            </p:nvSpPr>
            <p:spPr>
              <a:xfrm>
                <a:off x="2041780" y="4993837"/>
                <a:ext cx="1692020" cy="622300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  <a:effectLst/>
                  </a:rPr>
                  <a:t>The </a:t>
                </a:r>
                <a:r>
                  <a:rPr lang="en-US" i="1" dirty="0" err="1">
                    <a:solidFill>
                      <a:schemeClr val="bg1"/>
                    </a:solidFill>
                    <a:effectLst/>
                  </a:rPr>
                  <a:t>isodd</a:t>
                </a:r>
                <a:r>
                  <a:rPr lang="en-US" dirty="0">
                    <a:solidFill>
                      <a:schemeClr val="bg1"/>
                    </a:solidFill>
                    <a:effectLst/>
                  </a:rPr>
                  <a:t> Test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D95CCE3-10BD-6CED-A923-9054908B1282}"/>
                </a:ext>
              </a:extLst>
            </p:cNvPr>
            <p:cNvSpPr txBox="1"/>
            <p:nvPr/>
          </p:nvSpPr>
          <p:spPr>
            <a:xfrm>
              <a:off x="3835400" y="4962087"/>
              <a:ext cx="7543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\</a:t>
              </a:r>
              <a:r>
                <a:rPr lang="en-US" sz="2400" dirty="0" err="1">
                  <a:solidFill>
                    <a:srgbClr val="C00000"/>
                  </a:solidFill>
                </a:rPr>
                <a:t>isodd</a:t>
              </a:r>
              <a:r>
                <a:rPr lang="en-US" sz="2400" dirty="0">
                  <a:effectLst/>
                </a:rPr>
                <a:t>{&lt;num&gt;} </a:t>
              </a:r>
              <a:r>
                <a:rPr lang="en-US" sz="2400" dirty="0">
                  <a:effectLst/>
                  <a:sym typeface="Wingdings" panose="05000000000000000000" pitchFamily="2" charset="2"/>
                </a:rPr>
                <a:t> </a:t>
              </a:r>
              <a:r>
                <a:rPr lang="en-US" sz="2000" dirty="0"/>
                <a:t>true if ⟨num⟩ is odd, and false otherwise</a:t>
              </a:r>
              <a:endParaRPr lang="en-US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6D55659-B544-321A-3678-0C52FAA70693}"/>
              </a:ext>
            </a:extLst>
          </p:cNvPr>
          <p:cNvGrpSpPr/>
          <p:nvPr/>
        </p:nvGrpSpPr>
        <p:grpSpPr>
          <a:xfrm>
            <a:off x="1409700" y="5736203"/>
            <a:ext cx="9639299" cy="622300"/>
            <a:chOff x="1409700" y="5736203"/>
            <a:chExt cx="9639299" cy="622300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D5E4AF1-CA49-301B-67D6-977CE3167AD2}"/>
                </a:ext>
              </a:extLst>
            </p:cNvPr>
            <p:cNvGrpSpPr/>
            <p:nvPr/>
          </p:nvGrpSpPr>
          <p:grpSpPr>
            <a:xfrm>
              <a:off x="1409700" y="5736203"/>
              <a:ext cx="9639299" cy="622300"/>
              <a:chOff x="1409700" y="5736203"/>
              <a:chExt cx="9639299" cy="6223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776D8AF-76AB-91E3-D5B1-D6A9F5F0DD36}"/>
                  </a:ext>
                </a:extLst>
              </p:cNvPr>
              <p:cNvSpPr/>
              <p:nvPr/>
            </p:nvSpPr>
            <p:spPr>
              <a:xfrm>
                <a:off x="1409700" y="5812403"/>
                <a:ext cx="444500" cy="4699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5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6BAAE35-BA53-1739-4CC7-2F33C09D8F13}"/>
                  </a:ext>
                </a:extLst>
              </p:cNvPr>
              <p:cNvSpPr/>
              <p:nvPr/>
            </p:nvSpPr>
            <p:spPr>
              <a:xfrm>
                <a:off x="2041780" y="5736203"/>
                <a:ext cx="9007219" cy="622300"/>
              </a:xfrm>
              <a:prstGeom prst="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029BC29-AE62-2432-1B3C-730779D50054}"/>
                  </a:ext>
                </a:extLst>
              </p:cNvPr>
              <p:cNvSpPr/>
              <p:nvPr/>
            </p:nvSpPr>
            <p:spPr>
              <a:xfrm>
                <a:off x="2041780" y="5736203"/>
                <a:ext cx="1692020" cy="622300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bg1"/>
                    </a:solidFill>
                    <a:effectLst/>
                  </a:rPr>
                  <a:t>isundefined</a:t>
                </a:r>
                <a:endParaRPr lang="en-US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02732BA-6309-3621-955C-D0EBC4D45C7F}"/>
                </a:ext>
              </a:extLst>
            </p:cNvPr>
            <p:cNvSpPr txBox="1"/>
            <p:nvPr/>
          </p:nvSpPr>
          <p:spPr>
            <a:xfrm>
              <a:off x="3835400" y="5787002"/>
              <a:ext cx="67945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\</a:t>
              </a:r>
              <a:r>
                <a:rPr lang="en-US" sz="2400" dirty="0" err="1">
                  <a:solidFill>
                    <a:srgbClr val="C00000"/>
                  </a:solidFill>
                </a:rPr>
                <a:t>isundefined</a:t>
              </a:r>
              <a:r>
                <a:rPr lang="en-US" sz="2400" dirty="0">
                  <a:effectLst/>
                </a:rPr>
                <a:t>{\</a:t>
              </a:r>
              <a:r>
                <a:rPr lang="en-US" sz="2400" dirty="0" err="1">
                  <a:effectLst/>
                </a:rPr>
                <a:t>cmd</a:t>
              </a:r>
              <a:r>
                <a:rPr lang="en-US" sz="2400" dirty="0">
                  <a:effectLst/>
                </a:rPr>
                <a:t>} </a:t>
              </a:r>
              <a:r>
                <a:rPr lang="en-US" sz="2400" dirty="0">
                  <a:effectLst/>
                  <a:sym typeface="Wingdings" panose="05000000000000000000" pitchFamily="2" charset="2"/>
                </a:rPr>
                <a:t> </a:t>
              </a:r>
              <a:r>
                <a:rPr lang="en-US" sz="2000" dirty="0"/>
                <a:t>true if \</a:t>
              </a:r>
              <a:r>
                <a:rPr lang="en-US" sz="2000" dirty="0" err="1"/>
                <a:t>cmd</a:t>
              </a:r>
              <a:r>
                <a:rPr lang="en-US" sz="2000" dirty="0"/>
                <a:t> is not defined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8258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D2408C6-1475-A39C-0695-7BC67B61B3CB}"/>
              </a:ext>
            </a:extLst>
          </p:cNvPr>
          <p:cNvSpPr/>
          <p:nvPr/>
        </p:nvSpPr>
        <p:spPr>
          <a:xfrm>
            <a:off x="318867" y="167166"/>
            <a:ext cx="5251939" cy="618979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 for Combining Tests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908F1E-E346-2697-93F7-FA9F6581CA78}"/>
              </a:ext>
            </a:extLst>
          </p:cNvPr>
          <p:cNvSpPr/>
          <p:nvPr/>
        </p:nvSpPr>
        <p:spPr>
          <a:xfrm>
            <a:off x="1553029" y="984736"/>
            <a:ext cx="9391636" cy="576658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858ACB-BAB7-17BE-DCCB-025B6523C6B4}"/>
              </a:ext>
            </a:extLst>
          </p:cNvPr>
          <p:cNvGrpSpPr/>
          <p:nvPr/>
        </p:nvGrpSpPr>
        <p:grpSpPr>
          <a:xfrm>
            <a:off x="1885071" y="1223887"/>
            <a:ext cx="8421858" cy="1661742"/>
            <a:chOff x="1885071" y="1659988"/>
            <a:chExt cx="8421858" cy="166174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B36AA27-24C7-C3A5-30DB-9B3B93EFC998}"/>
                </a:ext>
              </a:extLst>
            </p:cNvPr>
            <p:cNvSpPr/>
            <p:nvPr/>
          </p:nvSpPr>
          <p:spPr>
            <a:xfrm>
              <a:off x="1885071" y="1659988"/>
              <a:ext cx="548640" cy="576775"/>
            </a:xfrm>
            <a:prstGeom prst="ellipse">
              <a:avLst/>
            </a:prstGeom>
            <a:solidFill>
              <a:srgbClr val="F59D9D"/>
            </a:solidFill>
            <a:ln>
              <a:solidFill>
                <a:srgbClr val="F59D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1</a:t>
              </a:r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D452CEB-0ADA-CB8D-3542-DD71343DC558}"/>
                </a:ext>
              </a:extLst>
            </p:cNvPr>
            <p:cNvSpPr/>
            <p:nvPr/>
          </p:nvSpPr>
          <p:spPr>
            <a:xfrm>
              <a:off x="2630658" y="1659988"/>
              <a:ext cx="7676271" cy="1661742"/>
            </a:xfrm>
            <a:prstGeom prst="roundRect">
              <a:avLst/>
            </a:prstGeom>
            <a:ln w="38100">
              <a:solidFill>
                <a:srgbClr val="F59D9D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9878D61-70F5-D0F2-212A-85A8F7D06687}"/>
                </a:ext>
              </a:extLst>
            </p:cNvPr>
            <p:cNvSpPr txBox="1"/>
            <p:nvPr/>
          </p:nvSpPr>
          <p:spPr>
            <a:xfrm>
              <a:off x="2813538" y="1772529"/>
              <a:ext cx="7493391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6"/>
                  </a:solidFill>
                </a:rPr>
                <a:t>“and”: \and - \AND</a:t>
              </a:r>
            </a:p>
            <a:p>
              <a:r>
                <a:rPr lang="en-US" sz="2000" dirty="0"/>
                <a:t>	</a:t>
              </a:r>
              <a:r>
                <a:rPr lang="en-US" sz="2000" dirty="0">
                  <a:sym typeface="Wingdings" panose="05000000000000000000" pitchFamily="2" charset="2"/>
                </a:rPr>
                <a:t> 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{ </a:t>
              </a:r>
              <a:r>
                <a:rPr lang="en-US" sz="24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test1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 </a:t>
              </a:r>
              <a:r>
                <a:rPr lang="en-US" sz="2000" b="1" dirty="0">
                  <a:solidFill>
                    <a:schemeClr val="accent6"/>
                  </a:solidFill>
                  <a:sym typeface="Wingdings" panose="05000000000000000000" pitchFamily="2" charset="2"/>
                </a:rPr>
                <a:t>\AND </a:t>
              </a:r>
              <a:r>
                <a:rPr lang="en-US" sz="24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test2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 } </a:t>
              </a:r>
              <a:r>
                <a:rPr lang="en-US" sz="2400" dirty="0">
                  <a:sym typeface="Wingdings" panose="05000000000000000000" pitchFamily="2" charset="2"/>
                </a:rPr>
                <a:t>will only evaluate to true if </a:t>
              </a:r>
              <a:r>
                <a:rPr lang="en-US" sz="2400" b="1" u="sng" dirty="0">
                  <a:sym typeface="Wingdings" panose="05000000000000000000" pitchFamily="2" charset="2"/>
                </a:rPr>
                <a:t>both</a:t>
              </a:r>
              <a:r>
                <a:rPr lang="en-US" sz="2400" dirty="0">
                  <a:sym typeface="Wingdings" panose="05000000000000000000" pitchFamily="2" charset="2"/>
                </a:rPr>
                <a:t> of the tests (1, 2) are true. Otherwise (meaning both false, or one true and one false), it will be always false.</a:t>
              </a:r>
              <a:endParaRPr lang="en-US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08B646C-BE64-E9DB-0F1F-20573FC482B4}"/>
              </a:ext>
            </a:extLst>
          </p:cNvPr>
          <p:cNvGrpSpPr/>
          <p:nvPr/>
        </p:nvGrpSpPr>
        <p:grpSpPr>
          <a:xfrm>
            <a:off x="1885071" y="3116499"/>
            <a:ext cx="8604737" cy="1680447"/>
            <a:chOff x="1885071" y="4044463"/>
            <a:chExt cx="8604737" cy="168044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C8F6835-AB17-9E11-F851-66EC35BBC36E}"/>
                </a:ext>
              </a:extLst>
            </p:cNvPr>
            <p:cNvSpPr/>
            <p:nvPr/>
          </p:nvSpPr>
          <p:spPr>
            <a:xfrm>
              <a:off x="1885071" y="4044463"/>
              <a:ext cx="548640" cy="576775"/>
            </a:xfrm>
            <a:prstGeom prst="ellipse">
              <a:avLst/>
            </a:prstGeom>
            <a:solidFill>
              <a:srgbClr val="F59D9D"/>
            </a:solidFill>
            <a:ln>
              <a:solidFill>
                <a:srgbClr val="F59D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2</a:t>
              </a:r>
              <a:endParaRPr lang="en-US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DC7E593-39C3-94D5-51F6-34288DAB0BB8}"/>
                </a:ext>
              </a:extLst>
            </p:cNvPr>
            <p:cNvSpPr/>
            <p:nvPr/>
          </p:nvSpPr>
          <p:spPr>
            <a:xfrm>
              <a:off x="2630657" y="4117730"/>
              <a:ext cx="7676271" cy="1607180"/>
            </a:xfrm>
            <a:prstGeom prst="roundRect">
              <a:avLst/>
            </a:prstGeom>
            <a:ln w="38100">
              <a:solidFill>
                <a:srgbClr val="F59D9D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A94D6E3-A7B6-EA8E-58CD-CCA34CF6D0A0}"/>
                </a:ext>
              </a:extLst>
            </p:cNvPr>
            <p:cNvSpPr txBox="1"/>
            <p:nvPr/>
          </p:nvSpPr>
          <p:spPr>
            <a:xfrm>
              <a:off x="2813537" y="4155250"/>
              <a:ext cx="7676271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6"/>
                  </a:solidFill>
                </a:rPr>
                <a:t>“or”: \or - \OR</a:t>
              </a:r>
            </a:p>
            <a:p>
              <a:r>
                <a:rPr lang="en-US" sz="2000" dirty="0"/>
                <a:t>	</a:t>
              </a:r>
              <a:r>
                <a:rPr lang="en-US" sz="2000" dirty="0">
                  <a:sym typeface="Wingdings" panose="05000000000000000000" pitchFamily="2" charset="2"/>
                </a:rPr>
                <a:t> 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{ </a:t>
              </a:r>
              <a:r>
                <a:rPr lang="en-US" sz="24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test1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 </a:t>
              </a:r>
              <a:r>
                <a:rPr lang="en-US" sz="2000" b="1" dirty="0">
                  <a:solidFill>
                    <a:schemeClr val="accent6"/>
                  </a:solidFill>
                  <a:sym typeface="Wingdings" panose="05000000000000000000" pitchFamily="2" charset="2"/>
                </a:rPr>
                <a:t>\OR </a:t>
              </a:r>
              <a:r>
                <a:rPr lang="en-US" sz="24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test2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 } </a:t>
              </a:r>
              <a:r>
                <a:rPr lang="en-US" sz="2400" dirty="0">
                  <a:sym typeface="Wingdings" panose="05000000000000000000" pitchFamily="2" charset="2"/>
                </a:rPr>
                <a:t>will evaluate to true if </a:t>
              </a:r>
              <a:r>
                <a:rPr lang="en-US" sz="2400" b="1" u="sng" dirty="0">
                  <a:sym typeface="Wingdings" panose="05000000000000000000" pitchFamily="2" charset="2"/>
                </a:rPr>
                <a:t>any</a:t>
              </a:r>
              <a:r>
                <a:rPr lang="en-US" sz="2400" dirty="0">
                  <a:sym typeface="Wingdings" panose="05000000000000000000" pitchFamily="2" charset="2"/>
                </a:rPr>
                <a:t> of the tests (1, 2) is true. “Or” is only false when both of the tests are false.</a:t>
              </a:r>
              <a:endParaRPr lang="en-US" sz="20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CA9861E-C88D-36B6-98DD-F5D5AF6B4DCA}"/>
              </a:ext>
            </a:extLst>
          </p:cNvPr>
          <p:cNvGrpSpPr/>
          <p:nvPr/>
        </p:nvGrpSpPr>
        <p:grpSpPr>
          <a:xfrm>
            <a:off x="1831145" y="4966117"/>
            <a:ext cx="8561195" cy="1604824"/>
            <a:chOff x="1885071" y="4044463"/>
            <a:chExt cx="8561195" cy="160482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1EEDD33-1787-636B-6245-D52B87A5E6DF}"/>
                </a:ext>
              </a:extLst>
            </p:cNvPr>
            <p:cNvSpPr/>
            <p:nvPr/>
          </p:nvSpPr>
          <p:spPr>
            <a:xfrm>
              <a:off x="1885071" y="4044463"/>
              <a:ext cx="548640" cy="576775"/>
            </a:xfrm>
            <a:prstGeom prst="ellipse">
              <a:avLst/>
            </a:prstGeom>
            <a:solidFill>
              <a:srgbClr val="F59D9D"/>
            </a:solidFill>
            <a:ln>
              <a:solidFill>
                <a:srgbClr val="F59D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3</a:t>
              </a:r>
              <a:endParaRPr lang="en-US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3E6F73A6-4B84-C6CD-0746-0791B06E1C7F}"/>
                </a:ext>
              </a:extLst>
            </p:cNvPr>
            <p:cNvSpPr/>
            <p:nvPr/>
          </p:nvSpPr>
          <p:spPr>
            <a:xfrm>
              <a:off x="2630657" y="4117729"/>
              <a:ext cx="7744265" cy="1531557"/>
            </a:xfrm>
            <a:prstGeom prst="roundRect">
              <a:avLst/>
            </a:prstGeom>
            <a:ln w="38100">
              <a:solidFill>
                <a:srgbClr val="F59D9D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CEB17A-7A79-801A-3A2F-B2E6F6FB5F85}"/>
                </a:ext>
              </a:extLst>
            </p:cNvPr>
            <p:cNvSpPr txBox="1"/>
            <p:nvPr/>
          </p:nvSpPr>
          <p:spPr>
            <a:xfrm>
              <a:off x="2769995" y="4141182"/>
              <a:ext cx="7676271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6"/>
                  </a:solidFill>
                </a:rPr>
                <a:t>“not”: \not - \NOT</a:t>
              </a:r>
            </a:p>
            <a:p>
              <a:r>
                <a:rPr lang="en-US" sz="2000" dirty="0"/>
                <a:t>	</a:t>
              </a:r>
              <a:r>
                <a:rPr lang="en-US" sz="2000" dirty="0">
                  <a:sym typeface="Wingdings" panose="05000000000000000000" pitchFamily="2" charset="2"/>
                </a:rPr>
                <a:t> 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{ </a:t>
              </a:r>
              <a:r>
                <a:rPr lang="en-US" sz="2000" b="1" dirty="0">
                  <a:solidFill>
                    <a:schemeClr val="accent6"/>
                  </a:solidFill>
                  <a:sym typeface="Wingdings" panose="05000000000000000000" pitchFamily="2" charset="2"/>
                </a:rPr>
                <a:t>\NOT </a:t>
              </a:r>
              <a:r>
                <a:rPr lang="en-US" sz="24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test</a:t>
              </a:r>
              <a:r>
                <a:rPr lang="en-US" sz="20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 } </a:t>
              </a:r>
              <a:r>
                <a:rPr lang="en-US" sz="2400" dirty="0">
                  <a:sym typeface="Wingdings" panose="05000000000000000000" pitchFamily="2" charset="2"/>
                </a:rPr>
                <a:t>when placed before a </a:t>
              </a:r>
              <a:r>
                <a:rPr lang="en-US" sz="24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test</a:t>
              </a:r>
              <a:r>
                <a:rPr lang="en-US" sz="2400" dirty="0">
                  <a:sym typeface="Wingdings" panose="05000000000000000000" pitchFamily="2" charset="2"/>
                </a:rPr>
                <a:t> it reverses it’s state, for example if </a:t>
              </a:r>
              <a:r>
                <a:rPr lang="en-US" sz="2400" dirty="0">
                  <a:solidFill>
                    <a:schemeClr val="accent1"/>
                  </a:solidFill>
                  <a:sym typeface="Wingdings" panose="05000000000000000000" pitchFamily="2" charset="2"/>
                </a:rPr>
                <a:t>test</a:t>
              </a:r>
              <a:r>
                <a:rPr lang="en-US" sz="2400" dirty="0">
                  <a:sym typeface="Wingdings" panose="05000000000000000000" pitchFamily="2" charset="2"/>
                </a:rPr>
                <a:t> is </a:t>
              </a:r>
              <a:r>
                <a:rPr lang="en-US" sz="2400" dirty="0">
                  <a:solidFill>
                    <a:schemeClr val="accent6"/>
                  </a:solidFill>
                  <a:sym typeface="Wingdings" panose="05000000000000000000" pitchFamily="2" charset="2"/>
                </a:rPr>
                <a:t>true</a:t>
              </a:r>
              <a:r>
                <a:rPr lang="en-US" sz="2400" dirty="0">
                  <a:sym typeface="Wingdings" panose="05000000000000000000" pitchFamily="2" charset="2"/>
                </a:rPr>
                <a:t>, it makes it </a:t>
              </a:r>
              <a:r>
                <a:rPr lang="en-US" sz="2400" dirty="0">
                  <a:solidFill>
                    <a:srgbClr val="FF0000"/>
                  </a:solidFill>
                  <a:sym typeface="Wingdings" panose="05000000000000000000" pitchFamily="2" charset="2"/>
                </a:rPr>
                <a:t>false</a:t>
              </a:r>
              <a:r>
                <a:rPr lang="en-US" sz="2400" dirty="0">
                  <a:sym typeface="Wingdings" panose="05000000000000000000" pitchFamily="2" charset="2"/>
                </a:rPr>
                <a:t>, and vise versa.</a:t>
              </a:r>
              <a:endParaRPr lang="en-US" sz="2000" dirty="0"/>
            </a:p>
          </p:txBody>
        </p:sp>
      </p:grpSp>
      <p:sp>
        <p:nvSpPr>
          <p:cNvPr id="19" name="Callout: Line 18">
            <a:extLst>
              <a:ext uri="{FF2B5EF4-FFF2-40B4-BE49-F238E27FC236}">
                <a16:creationId xmlns:a16="http://schemas.microsoft.com/office/drawing/2014/main" id="{FC94ADCF-0DCF-F054-6EDB-8BDFD573B5EA}"/>
              </a:ext>
            </a:extLst>
          </p:cNvPr>
          <p:cNvSpPr/>
          <p:nvPr/>
        </p:nvSpPr>
        <p:spPr>
          <a:xfrm>
            <a:off x="6933025" y="273795"/>
            <a:ext cx="2534531" cy="576774"/>
          </a:xfrm>
          <a:prstGeom prst="borderCallout1">
            <a:avLst>
              <a:gd name="adj1" fmla="val 18750"/>
              <a:gd name="adj2" fmla="val -8333"/>
              <a:gd name="adj3" fmla="val 241798"/>
              <a:gd name="adj4" fmla="val -54788"/>
            </a:avLst>
          </a:prstGeom>
          <a:ln w="285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\</a:t>
            </a:r>
            <a:r>
              <a:rPr lang="en-US" sz="2000" dirty="0" err="1"/>
              <a:t>ifthenelse</a:t>
            </a:r>
            <a:r>
              <a:rPr lang="en-US" sz="2000" dirty="0"/>
              <a:t>{Condition}</a:t>
            </a:r>
          </a:p>
        </p:txBody>
      </p:sp>
    </p:spTree>
    <p:extLst>
      <p:ext uri="{BB962C8B-B14F-4D97-AF65-F5344CB8AC3E}">
        <p14:creationId xmlns:p14="http://schemas.microsoft.com/office/powerpoint/2010/main" val="264299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3044265-BA61-6069-4B49-F7EDB325696C}"/>
              </a:ext>
            </a:extLst>
          </p:cNvPr>
          <p:cNvSpPr txBox="1"/>
          <p:nvPr/>
        </p:nvSpPr>
        <p:spPr>
          <a:xfrm>
            <a:off x="3300549" y="3044279"/>
            <a:ext cx="70539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Thanks for Watching !!</a:t>
            </a:r>
          </a:p>
        </p:txBody>
      </p:sp>
    </p:spTree>
    <p:extLst>
      <p:ext uri="{BB962C8B-B14F-4D97-AF65-F5344CB8AC3E}">
        <p14:creationId xmlns:p14="http://schemas.microsoft.com/office/powerpoint/2010/main" val="4269495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519</Words>
  <Application>Microsoft Office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 MAR</dc:creator>
  <cp:lastModifiedBy>AM MAR</cp:lastModifiedBy>
  <cp:revision>47</cp:revision>
  <dcterms:created xsi:type="dcterms:W3CDTF">2023-11-16T10:47:34Z</dcterms:created>
  <dcterms:modified xsi:type="dcterms:W3CDTF">2023-11-18T13:04:47Z</dcterms:modified>
</cp:coreProperties>
</file>
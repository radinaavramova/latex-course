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7499"/>
    <a:srgbClr val="4D648D"/>
    <a:srgbClr val="555A7D"/>
    <a:srgbClr val="FFB787"/>
    <a:srgbClr val="FD5732"/>
    <a:srgbClr val="55A0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03DC4-E8D1-46F3-BFE7-36DA40387759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A9DBF-102D-4AD1-9818-8CF7F81A1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4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A9DBF-102D-4AD1-9818-8CF7F81A19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51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9636-317D-5D11-D46A-256266122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6C279-4F02-5941-823C-7AE2C871D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75857-EC18-E48B-BFD3-F643661FD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0398-B33E-419E-8E97-231110F307E8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A6F9D-8D1A-A1ED-C91D-C08B8C56D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542D1-5A12-8595-1044-DC04C75A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7D3BC-F7A5-4B60-9087-8DD80AB48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B103D-417A-EF5F-9DB4-91B55F58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E9F17-BB66-B792-4A18-E9C6F52E3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BD043-3B0D-1492-91FD-7E2639EC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0398-B33E-419E-8E97-231110F307E8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42781-0AF0-4B2E-12FD-CB93DE0A5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A7D19-23F8-B614-D3E5-3F700C99D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7D3BC-F7A5-4B60-9087-8DD80AB48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6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F9A9E-744D-18C9-2EA8-280586D8B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9AC54-D0C4-4A4A-9906-54353DA8F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13F10-B173-C72D-480A-0A8949467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0398-B33E-419E-8E97-231110F307E8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1A91A-B657-62CA-9222-BB8B184B2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1C8BB-9F42-F38D-A3B4-EC868C2E9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7D3BC-F7A5-4B60-9087-8DD80AB48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65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EBF68-C3D4-3F9F-5FCD-0F8905182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B73AD-8252-A327-5331-6AECA4D18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E98CE-A615-759A-FE54-719390F8A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B8321-7145-2EA3-685D-52A5AAFE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0398-B33E-419E-8E97-231110F307E8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E3BE1-42C3-97B7-7FD9-A9620B523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1AA2B-BC56-BF00-33CF-6B53775D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7D3BC-F7A5-4B60-9087-8DD80AB48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86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0D4C7-3AD4-3C63-3648-CA701ABC6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7DED2-12BE-A15D-0F85-941E90A35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10915-4FDD-C3A6-1D7F-F62098468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C66428-DD96-9551-7D87-58C84D995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7D285B-9239-90E3-3621-1ED8D9A00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28B85-C723-5B59-9160-0CE3E211A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0398-B33E-419E-8E97-231110F307E8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1C3B51-B57F-7929-5A9B-3DE8CC4E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75E195-C693-060E-15E5-03C5C4DA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7D3BC-F7A5-4B60-9087-8DD80AB48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7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2B907-770E-19E5-2877-B081AA0B0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4B52C3-2763-2878-B41B-B8F6B959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0398-B33E-419E-8E97-231110F307E8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76B06-3972-E868-A880-7D01DE7F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BF964-78E0-D0C7-36A7-5B529AAC9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7D3BC-F7A5-4B60-9087-8DD80AB48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6B1A1A-ED1C-0B19-CFBC-AAB529704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0398-B33E-419E-8E97-231110F307E8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EEA818-8959-190E-0D4D-8764E3E77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C129C-F277-8E91-AA22-B5608A41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7D3BC-F7A5-4B60-9087-8DD80AB48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D3F0-F7E8-56ED-B01D-4634CF435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561E8-4D9A-6DE3-FE18-6195DD6BC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5B4DC-B92E-0C2C-2ED7-58B03306D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E4CB3-FE4A-1C17-606A-4888020C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0398-B33E-419E-8E97-231110F307E8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2B692-AD4D-3AE0-954F-A593BE43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B04A6-52F2-104F-E0C4-A8199E0B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7D3BC-F7A5-4B60-9087-8DD80AB48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81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DC0E-7579-7120-2CA2-F102CCEB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062837-37D0-528D-59F9-125D9C4B8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9BAC2-455C-C35B-39BF-3322BF823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DBDC2-2585-B826-B5E5-1BE15DEA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0398-B33E-419E-8E97-231110F307E8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578BD-0866-1796-81FF-9C581B35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7A4F5-149F-89B3-DF7B-5C1809545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7D3BC-F7A5-4B60-9087-8DD80AB48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33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9FA2-23E4-0CC4-4200-717AC7BEB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1B61F-7C08-7552-4496-572AD5874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979C1-DD84-6892-E348-61EA5A3A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0398-B33E-419E-8E97-231110F307E8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3CD48-DEFE-F1BD-9EA1-0B4279C2D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EDD4A-B677-5492-BF8E-0D7956E45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7D3BC-F7A5-4B60-9087-8DD80AB48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17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7EE525-102E-6CF6-59B7-6120EE8A2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A2CE5-AF70-7E3B-29E1-FB558E9B2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94C25-FE9D-AE8E-4F55-9FC98317A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0398-B33E-419E-8E97-231110F307E8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09E71-A8FE-7200-D907-1A81EE41F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F5EF2-DCBC-F406-010D-96F06CFA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7D3BC-F7A5-4B60-9087-8DD80AB48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70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74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D23DC6-F797-925F-E484-89AF6F879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DF3FA-8EC3-D1F5-6C97-9699C08B0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3D8F8-0AE9-1975-32C9-F056B7C5D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F0398-B33E-419E-8E97-231110F307E8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46F2C-974C-D1CE-8F81-C52B534F8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0E861-60ED-5900-DB72-8807EA292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7D3BC-F7A5-4B60-9087-8DD80AB48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3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C86BA9-CBF0-983B-7C3B-21C368AC5C3B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A2B3A7-E552-430C-0DD5-26DB5192858D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8BB73F-0F1E-4E48-ED4F-BAD2EDD65B5F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4C408-1951-4129-7A1E-D9463504FD97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EEAF5-7038-1C4A-8E9E-AE8DF38E58D7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LaTeX as a Calculator</a:t>
            </a:r>
          </a:p>
        </p:txBody>
      </p:sp>
    </p:spTree>
    <p:extLst>
      <p:ext uri="{BB962C8B-B14F-4D97-AF65-F5344CB8AC3E}">
        <p14:creationId xmlns:p14="http://schemas.microsoft.com/office/powerpoint/2010/main" val="2730268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DAADCA-4487-1AAE-A07B-1786A33CBEB7}"/>
              </a:ext>
            </a:extLst>
          </p:cNvPr>
          <p:cNvSpPr/>
          <p:nvPr/>
        </p:nvSpPr>
        <p:spPr>
          <a:xfrm>
            <a:off x="427888" y="279219"/>
            <a:ext cx="4023807" cy="70338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calculator Package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B0C822-A4EB-0E8B-E30F-B9E64F8CD140}"/>
              </a:ext>
            </a:extLst>
          </p:cNvPr>
          <p:cNvSpPr/>
          <p:nvPr/>
        </p:nvSpPr>
        <p:spPr>
          <a:xfrm>
            <a:off x="1361048" y="1325273"/>
            <a:ext cx="9765323" cy="353701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7B3EE78-22CB-E87C-22CF-B4737CE53D65}"/>
              </a:ext>
            </a:extLst>
          </p:cNvPr>
          <p:cNvGrpSpPr/>
          <p:nvPr/>
        </p:nvGrpSpPr>
        <p:grpSpPr>
          <a:xfrm>
            <a:off x="1645777" y="1573434"/>
            <a:ext cx="8342141" cy="461665"/>
            <a:chOff x="1969477" y="2107438"/>
            <a:chExt cx="8342141" cy="46166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6BD6C3-0ABC-4CEE-1ED1-F3D611934EF6}"/>
                </a:ext>
              </a:extLst>
            </p:cNvPr>
            <p:cNvSpPr/>
            <p:nvPr/>
          </p:nvSpPr>
          <p:spPr>
            <a:xfrm>
              <a:off x="1969477" y="2107438"/>
              <a:ext cx="444526" cy="46166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F2E06F-C4E7-5D8A-12DA-155300D82AAE}"/>
                </a:ext>
              </a:extLst>
            </p:cNvPr>
            <p:cNvSpPr txBox="1"/>
            <p:nvPr/>
          </p:nvSpPr>
          <p:spPr>
            <a:xfrm>
              <a:off x="2489981" y="2107438"/>
              <a:ext cx="78216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Basic Arithmetic: add, subtract, multiply and divide.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EEABD62-CC79-D4B7-100A-0B136FA6D8B8}"/>
              </a:ext>
            </a:extLst>
          </p:cNvPr>
          <p:cNvGrpSpPr/>
          <p:nvPr/>
        </p:nvGrpSpPr>
        <p:grpSpPr>
          <a:xfrm>
            <a:off x="1645777" y="2387951"/>
            <a:ext cx="8342141" cy="461665"/>
            <a:chOff x="1995266" y="2762870"/>
            <a:chExt cx="8342141" cy="4616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C124C9-15CB-B8B9-C85D-57E36748B930}"/>
                </a:ext>
              </a:extLst>
            </p:cNvPr>
            <p:cNvSpPr txBox="1"/>
            <p:nvPr/>
          </p:nvSpPr>
          <p:spPr>
            <a:xfrm>
              <a:off x="2515770" y="2762870"/>
              <a:ext cx="78216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Compute powers, square roots, exponentials.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9E0CE78-EB80-EDF5-7120-E6001E610FB5}"/>
                </a:ext>
              </a:extLst>
            </p:cNvPr>
            <p:cNvSpPr/>
            <p:nvPr/>
          </p:nvSpPr>
          <p:spPr>
            <a:xfrm>
              <a:off x="1995266" y="2762870"/>
              <a:ext cx="444526" cy="46166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CFB5C84-3BEF-4813-A535-7DFFBE0F80A9}"/>
              </a:ext>
            </a:extLst>
          </p:cNvPr>
          <p:cNvGrpSpPr/>
          <p:nvPr/>
        </p:nvGrpSpPr>
        <p:grpSpPr>
          <a:xfrm>
            <a:off x="1645777" y="3269474"/>
            <a:ext cx="8835686" cy="461697"/>
            <a:chOff x="1995266" y="3633434"/>
            <a:chExt cx="8835686" cy="46169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32F2B08-D6FB-F68C-257C-7E5EB536B0FF}"/>
                </a:ext>
              </a:extLst>
            </p:cNvPr>
            <p:cNvSpPr txBox="1"/>
            <p:nvPr/>
          </p:nvSpPr>
          <p:spPr>
            <a:xfrm>
              <a:off x="2515770" y="3633434"/>
              <a:ext cx="83151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Work with Logarithms, trigonometric and hyperbolic functions.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E1CB22D-C740-3317-E590-87A0ACDD8EBC}"/>
                </a:ext>
              </a:extLst>
            </p:cNvPr>
            <p:cNvSpPr/>
            <p:nvPr/>
          </p:nvSpPr>
          <p:spPr>
            <a:xfrm>
              <a:off x="1995266" y="3633466"/>
              <a:ext cx="444526" cy="46166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18B4948-4206-A5E7-068D-F8292DCBF2BB}"/>
              </a:ext>
            </a:extLst>
          </p:cNvPr>
          <p:cNvGrpSpPr/>
          <p:nvPr/>
        </p:nvGrpSpPr>
        <p:grpSpPr>
          <a:xfrm>
            <a:off x="1645777" y="4062747"/>
            <a:ext cx="9371429" cy="467902"/>
            <a:chOff x="1995266" y="4428751"/>
            <a:chExt cx="9371429" cy="46790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1B273E0-0EF9-9ED4-D80F-272FFFBAA89B}"/>
                </a:ext>
              </a:extLst>
            </p:cNvPr>
            <p:cNvSpPr txBox="1"/>
            <p:nvPr/>
          </p:nvSpPr>
          <p:spPr>
            <a:xfrm>
              <a:off x="2515770" y="4428751"/>
              <a:ext cx="88509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Work with Vectors in two and three dimensions, and Square Matrices. 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974C5D5-2EA0-D290-D66A-AFDF8CDCBF64}"/>
                </a:ext>
              </a:extLst>
            </p:cNvPr>
            <p:cNvSpPr/>
            <p:nvPr/>
          </p:nvSpPr>
          <p:spPr>
            <a:xfrm>
              <a:off x="1995266" y="4434988"/>
              <a:ext cx="444526" cy="46166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443D5D9-45AB-10ED-FA5F-02713014C591}"/>
              </a:ext>
            </a:extLst>
          </p:cNvPr>
          <p:cNvGrpSpPr/>
          <p:nvPr/>
        </p:nvGrpSpPr>
        <p:grpSpPr>
          <a:xfrm>
            <a:off x="1361048" y="5021327"/>
            <a:ext cx="9765323" cy="1684273"/>
            <a:chOff x="1361048" y="5021327"/>
            <a:chExt cx="9765323" cy="1684273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319B5D3-645D-65D9-EA2F-BF154CDB4420}"/>
                </a:ext>
              </a:extLst>
            </p:cNvPr>
            <p:cNvSpPr/>
            <p:nvPr/>
          </p:nvSpPr>
          <p:spPr>
            <a:xfrm>
              <a:off x="1361048" y="5021327"/>
              <a:ext cx="9765323" cy="16842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795C406-438B-9B1C-A8A5-BBE681F8A5DD}"/>
                </a:ext>
              </a:extLst>
            </p:cNvPr>
            <p:cNvSpPr txBox="1"/>
            <p:nvPr/>
          </p:nvSpPr>
          <p:spPr>
            <a:xfrm>
              <a:off x="1454722" y="5047382"/>
              <a:ext cx="944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Working Methodology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005C322-7448-D335-96E5-DA0EC73EC22C}"/>
              </a:ext>
            </a:extLst>
          </p:cNvPr>
          <p:cNvSpPr txBox="1"/>
          <p:nvPr/>
        </p:nvSpPr>
        <p:spPr>
          <a:xfrm>
            <a:off x="1602204" y="5535570"/>
            <a:ext cx="9370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Package performs simultaneous calculation &amp; storing of the result in a </a:t>
            </a:r>
            <a:r>
              <a:rPr lang="en-US" sz="2000" b="1" dirty="0">
                <a:solidFill>
                  <a:srgbClr val="9F0003"/>
                </a:solidFill>
              </a:rPr>
              <a:t>new variable</a:t>
            </a:r>
            <a:r>
              <a:rPr lang="en-US" sz="2000" dirty="0"/>
              <a:t>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20F2F6-1791-9A6D-CE9A-3874E0ED7543}"/>
              </a:ext>
            </a:extLst>
          </p:cNvPr>
          <p:cNvSpPr txBox="1"/>
          <p:nvPr/>
        </p:nvSpPr>
        <p:spPr>
          <a:xfrm>
            <a:off x="1619989" y="5935680"/>
            <a:ext cx="3036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9F0003"/>
                </a:solidFill>
                <a:effectLst/>
              </a:rPr>
              <a:t>\ADD</a:t>
            </a:r>
            <a:r>
              <a:rPr lang="en-US" sz="2800" dirty="0">
                <a:solidFill>
                  <a:srgbClr val="000000"/>
                </a:solidFill>
                <a:effectLst/>
              </a:rPr>
              <a:t>{8}{7}{</a:t>
            </a:r>
            <a:r>
              <a:rPr lang="en-US" sz="2800" dirty="0">
                <a:solidFill>
                  <a:srgbClr val="9F0003"/>
                </a:solidFill>
              </a:rPr>
              <a:t>\Result</a:t>
            </a:r>
            <a:r>
              <a:rPr lang="en-US" sz="2800" dirty="0">
                <a:solidFill>
                  <a:srgbClr val="000000"/>
                </a:solidFill>
                <a:effectLst/>
              </a:rPr>
              <a:t>} </a:t>
            </a:r>
            <a:endParaRPr lang="en-US" sz="28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25C850C-512A-0250-8D48-47E9DB77923C}"/>
              </a:ext>
            </a:extLst>
          </p:cNvPr>
          <p:cNvCxnSpPr/>
          <p:nvPr/>
        </p:nvCxnSpPr>
        <p:spPr>
          <a:xfrm>
            <a:off x="4937761" y="6203852"/>
            <a:ext cx="15052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97AA6AF-19E5-9E06-FE62-6E31A8E84DC2}"/>
              </a:ext>
            </a:extLst>
          </p:cNvPr>
          <p:cNvSpPr txBox="1"/>
          <p:nvPr/>
        </p:nvSpPr>
        <p:spPr>
          <a:xfrm>
            <a:off x="6656024" y="5915836"/>
            <a:ext cx="4023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Calling </a:t>
            </a:r>
            <a:r>
              <a:rPr lang="en-US" sz="2800" dirty="0">
                <a:solidFill>
                  <a:srgbClr val="9F0003"/>
                </a:solidFill>
              </a:rPr>
              <a:t>\Result </a:t>
            </a:r>
            <a:r>
              <a:rPr lang="en-US" sz="2800" dirty="0"/>
              <a:t>gives 15</a:t>
            </a:r>
          </a:p>
        </p:txBody>
      </p:sp>
    </p:spTree>
    <p:extLst>
      <p:ext uri="{BB962C8B-B14F-4D97-AF65-F5344CB8AC3E}">
        <p14:creationId xmlns:p14="http://schemas.microsoft.com/office/powerpoint/2010/main" val="414029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0" grpId="0"/>
      <p:bldP spid="32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8D369C-F65D-1EBB-A508-201855D95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599" y="1247576"/>
            <a:ext cx="9129196" cy="540681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6553E08-EAAA-EF1D-4587-36E5538D0342}"/>
              </a:ext>
            </a:extLst>
          </p:cNvPr>
          <p:cNvSpPr/>
          <p:nvPr/>
        </p:nvSpPr>
        <p:spPr>
          <a:xfrm>
            <a:off x="534572" y="305041"/>
            <a:ext cx="4318781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Predefined Numbers</a:t>
            </a:r>
          </a:p>
        </p:txBody>
      </p:sp>
    </p:spTree>
    <p:extLst>
      <p:ext uri="{BB962C8B-B14F-4D97-AF65-F5344CB8AC3E}">
        <p14:creationId xmlns:p14="http://schemas.microsoft.com/office/powerpoint/2010/main" val="244743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109268-403E-8047-5CD7-5E9FB8DCE5B7}"/>
              </a:ext>
            </a:extLst>
          </p:cNvPr>
          <p:cNvSpPr/>
          <p:nvPr/>
        </p:nvSpPr>
        <p:spPr>
          <a:xfrm>
            <a:off x="239150" y="128862"/>
            <a:ext cx="5064370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Other Operations on Integers &amp; Real Numbers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5C0A98-8C44-C21E-CA05-4265E9745FE9}"/>
              </a:ext>
            </a:extLst>
          </p:cNvPr>
          <p:cNvGrpSpPr/>
          <p:nvPr/>
        </p:nvGrpSpPr>
        <p:grpSpPr>
          <a:xfrm>
            <a:off x="1718603" y="941437"/>
            <a:ext cx="8153403" cy="1071150"/>
            <a:chOff x="1739704" y="1069144"/>
            <a:chExt cx="8153403" cy="11254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D1BA0A-3DAF-D012-7F2C-190884F11869}"/>
                </a:ext>
              </a:extLst>
            </p:cNvPr>
            <p:cNvSpPr/>
            <p:nvPr/>
          </p:nvSpPr>
          <p:spPr>
            <a:xfrm>
              <a:off x="1744395" y="1237957"/>
              <a:ext cx="8148712" cy="9566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86B825-D316-47BC-27E0-658AA8204619}"/>
                </a:ext>
              </a:extLst>
            </p:cNvPr>
            <p:cNvSpPr/>
            <p:nvPr/>
          </p:nvSpPr>
          <p:spPr>
            <a:xfrm>
              <a:off x="1739704" y="1069144"/>
              <a:ext cx="3066757" cy="42203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Square of a Number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583C14-F852-3B02-FC1E-76968661BE10}"/>
                </a:ext>
              </a:extLst>
            </p:cNvPr>
            <p:cNvSpPr txBox="1"/>
            <p:nvPr/>
          </p:nvSpPr>
          <p:spPr>
            <a:xfrm>
              <a:off x="2194561" y="1608164"/>
              <a:ext cx="36998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\SQUARE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{2.2}{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\sq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}</a:t>
              </a:r>
              <a:endParaRPr lang="en-US" sz="2400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B7AC003-F766-25E0-1359-06D0597F6E53}"/>
                </a:ext>
              </a:extLst>
            </p:cNvPr>
            <p:cNvCxnSpPr/>
            <p:nvPr/>
          </p:nvCxnSpPr>
          <p:spPr>
            <a:xfrm flipV="1">
              <a:off x="5181600" y="1830157"/>
              <a:ext cx="1392701" cy="1406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A6F678-5B00-FF2E-0877-0DF595E6C725}"/>
                </a:ext>
              </a:extLst>
            </p:cNvPr>
            <p:cNvSpPr txBox="1"/>
            <p:nvPr/>
          </p:nvSpPr>
          <p:spPr>
            <a:xfrm>
              <a:off x="6861519" y="1534662"/>
              <a:ext cx="30315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\sq  </a:t>
              </a:r>
              <a:r>
                <a:rPr lang="en-US" sz="2400" dirty="0">
                  <a:effectLst/>
                </a:rPr>
                <a:t>gives (</a:t>
              </a:r>
              <a:r>
                <a:rPr lang="en-US" sz="2400" dirty="0"/>
                <a:t>4.83998)</a:t>
              </a:r>
              <a:r>
                <a:rPr lang="en-US" sz="2400" dirty="0">
                  <a:effectLst/>
                </a:rPr>
                <a:t> </a:t>
              </a:r>
              <a:endParaRPr lang="en-US" sz="24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22CC8D-22AE-7FAB-BCEE-94B621892353}"/>
              </a:ext>
            </a:extLst>
          </p:cNvPr>
          <p:cNvGrpSpPr/>
          <p:nvPr/>
        </p:nvGrpSpPr>
        <p:grpSpPr>
          <a:xfrm>
            <a:off x="1704530" y="2083130"/>
            <a:ext cx="8153403" cy="1075422"/>
            <a:chOff x="1739704" y="1069144"/>
            <a:chExt cx="8153403" cy="112541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E98A714-DC84-9D7C-3133-FEA99C48F6CF}"/>
                </a:ext>
              </a:extLst>
            </p:cNvPr>
            <p:cNvSpPr/>
            <p:nvPr/>
          </p:nvSpPr>
          <p:spPr>
            <a:xfrm>
              <a:off x="1744395" y="1237957"/>
              <a:ext cx="8148712" cy="9566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36F02AA-5F57-CA60-5766-4614547BD7DB}"/>
                </a:ext>
              </a:extLst>
            </p:cNvPr>
            <p:cNvSpPr/>
            <p:nvPr/>
          </p:nvSpPr>
          <p:spPr>
            <a:xfrm>
              <a:off x="1739704" y="1069144"/>
              <a:ext cx="3066757" cy="42203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Cube of a Number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E17747-2799-56CB-8755-128D2D24A4B6}"/>
                </a:ext>
              </a:extLst>
            </p:cNvPr>
            <p:cNvSpPr txBox="1"/>
            <p:nvPr/>
          </p:nvSpPr>
          <p:spPr>
            <a:xfrm>
              <a:off x="2194561" y="1608164"/>
              <a:ext cx="36998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\CUBE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{3.2}{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qb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} </a:t>
              </a:r>
              <a:endParaRPr lang="en-US" sz="2400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F97F983-C2D2-72B6-A155-F884F2C127AA}"/>
                </a:ext>
              </a:extLst>
            </p:cNvPr>
            <p:cNvCxnSpPr/>
            <p:nvPr/>
          </p:nvCxnSpPr>
          <p:spPr>
            <a:xfrm flipV="1">
              <a:off x="5181600" y="1830157"/>
              <a:ext cx="1392701" cy="1406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6A6F81-8A3D-ED35-253E-3D0B0F203996}"/>
                </a:ext>
              </a:extLst>
            </p:cNvPr>
            <p:cNvSpPr txBox="1"/>
            <p:nvPr/>
          </p:nvSpPr>
          <p:spPr>
            <a:xfrm>
              <a:off x="6861519" y="1534662"/>
              <a:ext cx="30315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qb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  </a:t>
              </a:r>
              <a:r>
                <a:rPr lang="en-US" sz="2400" dirty="0">
                  <a:effectLst/>
                </a:rPr>
                <a:t>gives (</a:t>
              </a:r>
              <a:r>
                <a:rPr lang="en-US" sz="2400" dirty="0"/>
                <a:t>32.76788)</a:t>
              </a:r>
              <a:r>
                <a:rPr lang="en-US" sz="2400" dirty="0">
                  <a:effectLst/>
                </a:rPr>
                <a:t> </a:t>
              </a:r>
              <a:endParaRPr lang="en-US" sz="2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C44B57C-4FB0-C0A1-C4BE-3260DCBA7BA5}"/>
              </a:ext>
            </a:extLst>
          </p:cNvPr>
          <p:cNvGrpSpPr/>
          <p:nvPr/>
        </p:nvGrpSpPr>
        <p:grpSpPr>
          <a:xfrm>
            <a:off x="1704530" y="3262430"/>
            <a:ext cx="8153404" cy="1019672"/>
            <a:chOff x="1739704" y="1069144"/>
            <a:chExt cx="8153404" cy="112541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6D5C466-A506-4B57-8B09-DCF5836F1816}"/>
                </a:ext>
              </a:extLst>
            </p:cNvPr>
            <p:cNvSpPr/>
            <p:nvPr/>
          </p:nvSpPr>
          <p:spPr>
            <a:xfrm>
              <a:off x="1744395" y="1237957"/>
              <a:ext cx="8148712" cy="9566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24D5A7F-82D4-DCBA-7AC1-C15C48ADC3C8}"/>
                </a:ext>
              </a:extLst>
            </p:cNvPr>
            <p:cNvSpPr/>
            <p:nvPr/>
          </p:nvSpPr>
          <p:spPr>
            <a:xfrm>
              <a:off x="1739704" y="1069144"/>
              <a:ext cx="3066757" cy="42203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Exponent Power of a Number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66084D-5D41-0C39-9DD0-37759575ADA2}"/>
                </a:ext>
              </a:extLst>
            </p:cNvPr>
            <p:cNvSpPr txBox="1"/>
            <p:nvPr/>
          </p:nvSpPr>
          <p:spPr>
            <a:xfrm>
              <a:off x="2194561" y="1608164"/>
              <a:ext cx="36998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\POWER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{3}{5}{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threexp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}</a:t>
              </a:r>
              <a:endParaRPr lang="en-US" sz="2400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656C2C0-9354-20D8-937C-D6D6926288CD}"/>
                </a:ext>
              </a:extLst>
            </p:cNvPr>
            <p:cNvCxnSpPr>
              <a:cxnSpLocks/>
            </p:cNvCxnSpPr>
            <p:nvPr/>
          </p:nvCxnSpPr>
          <p:spPr>
            <a:xfrm>
              <a:off x="5636455" y="1838996"/>
              <a:ext cx="94957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4ABA56C-98FE-38DE-75C1-A56533C3586A}"/>
                </a:ext>
              </a:extLst>
            </p:cNvPr>
            <p:cNvSpPr txBox="1"/>
            <p:nvPr/>
          </p:nvSpPr>
          <p:spPr>
            <a:xfrm>
              <a:off x="6723772" y="1532376"/>
              <a:ext cx="3169336" cy="509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 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threexp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  </a:t>
              </a:r>
              <a:r>
                <a:rPr lang="en-US" sz="2400" dirty="0">
                  <a:effectLst/>
                </a:rPr>
                <a:t>gives (</a:t>
              </a:r>
              <a:r>
                <a:rPr lang="en-US" sz="2400" dirty="0"/>
                <a:t>243)</a:t>
              </a:r>
              <a:r>
                <a:rPr lang="en-US" sz="2400" dirty="0">
                  <a:effectLst/>
                </a:rPr>
                <a:t> </a:t>
              </a:r>
              <a:endParaRPr lang="en-US" sz="24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8A9CCAE-9B98-AD50-BAFF-D5A2CDEA61FE}"/>
              </a:ext>
            </a:extLst>
          </p:cNvPr>
          <p:cNvGrpSpPr/>
          <p:nvPr/>
        </p:nvGrpSpPr>
        <p:grpSpPr>
          <a:xfrm>
            <a:off x="1704529" y="4373005"/>
            <a:ext cx="8167477" cy="1125416"/>
            <a:chOff x="1739704" y="1069144"/>
            <a:chExt cx="8167477" cy="112541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30AA0A1-29FC-3D31-9158-D1EB83C3DAE0}"/>
                </a:ext>
              </a:extLst>
            </p:cNvPr>
            <p:cNvSpPr/>
            <p:nvPr/>
          </p:nvSpPr>
          <p:spPr>
            <a:xfrm>
              <a:off x="1744395" y="1237957"/>
              <a:ext cx="8148712" cy="9566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C254FCC-5C74-D1EF-0BF0-EADDACE9999A}"/>
                </a:ext>
              </a:extLst>
            </p:cNvPr>
            <p:cNvSpPr/>
            <p:nvPr/>
          </p:nvSpPr>
          <p:spPr>
            <a:xfrm>
              <a:off x="1739704" y="1069144"/>
              <a:ext cx="3066757" cy="42203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Absolute Value of a Number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8B50838-639C-5B6E-893F-09A10BD7014B}"/>
                </a:ext>
              </a:extLst>
            </p:cNvPr>
            <p:cNvSpPr txBox="1"/>
            <p:nvPr/>
          </p:nvSpPr>
          <p:spPr>
            <a:xfrm>
              <a:off x="2118948" y="1509840"/>
              <a:ext cx="369980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\ABSVALUE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{</a:t>
              </a:r>
              <a:r>
                <a:rPr lang="en-US" sz="3200" dirty="0">
                  <a:solidFill>
                    <a:srgbClr val="000000"/>
                  </a:solidFill>
                  <a:effectLst/>
                </a:rPr>
                <a:t>-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2.35}{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absval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}</a:t>
              </a:r>
              <a:endParaRPr lang="en-US" sz="2400" dirty="0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3D831D1-874F-2BC2-FC2F-C731F33A8F1D}"/>
                </a:ext>
              </a:extLst>
            </p:cNvPr>
            <p:cNvCxnSpPr>
              <a:cxnSpLocks/>
            </p:cNvCxnSpPr>
            <p:nvPr/>
          </p:nvCxnSpPr>
          <p:spPr>
            <a:xfrm>
              <a:off x="5711483" y="1838996"/>
              <a:ext cx="94957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8D22665-8C38-4DA8-B6AF-6EFE4B54E5F5}"/>
                </a:ext>
              </a:extLst>
            </p:cNvPr>
            <p:cNvSpPr txBox="1"/>
            <p:nvPr/>
          </p:nvSpPr>
          <p:spPr>
            <a:xfrm>
              <a:off x="6737845" y="1587530"/>
              <a:ext cx="31693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 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absval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  </a:t>
              </a:r>
              <a:r>
                <a:rPr lang="en-US" sz="2400" dirty="0">
                  <a:effectLst/>
                </a:rPr>
                <a:t>gives (</a:t>
              </a:r>
              <a:r>
                <a:rPr lang="en-US" sz="2400" dirty="0"/>
                <a:t>2.35)</a:t>
              </a:r>
              <a:r>
                <a:rPr lang="en-US" sz="2400" dirty="0">
                  <a:effectLst/>
                </a:rPr>
                <a:t> </a:t>
              </a:r>
              <a:endParaRPr lang="en-US" sz="24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9749494-ED53-69AC-3E43-18E33DA1290D}"/>
              </a:ext>
            </a:extLst>
          </p:cNvPr>
          <p:cNvGrpSpPr/>
          <p:nvPr/>
        </p:nvGrpSpPr>
        <p:grpSpPr>
          <a:xfrm>
            <a:off x="1704528" y="5611854"/>
            <a:ext cx="8236352" cy="1125416"/>
            <a:chOff x="1739704" y="1069144"/>
            <a:chExt cx="8236352" cy="112541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69B7345-C2B0-8BE6-4E54-9F947A94FBCB}"/>
                </a:ext>
              </a:extLst>
            </p:cNvPr>
            <p:cNvSpPr/>
            <p:nvPr/>
          </p:nvSpPr>
          <p:spPr>
            <a:xfrm>
              <a:off x="1744395" y="1237957"/>
              <a:ext cx="8148712" cy="9566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35D7C4C-666D-A77A-21F6-1D9C995FACC3}"/>
                </a:ext>
              </a:extLst>
            </p:cNvPr>
            <p:cNvSpPr/>
            <p:nvPr/>
          </p:nvSpPr>
          <p:spPr>
            <a:xfrm>
              <a:off x="1739704" y="1069144"/>
              <a:ext cx="3066757" cy="42203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Floor of a Number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BDD4E19-DBFF-786D-964A-27AABC328DEE}"/>
                </a:ext>
              </a:extLst>
            </p:cNvPr>
            <p:cNvSpPr txBox="1"/>
            <p:nvPr/>
          </p:nvSpPr>
          <p:spPr>
            <a:xfrm>
              <a:off x="2194561" y="1608164"/>
              <a:ext cx="36998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\FLOOR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{2.23}{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floorval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}</a:t>
              </a:r>
              <a:endParaRPr lang="en-US" sz="2400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96D2C0D-0088-C0A0-3473-F330069B5BBF}"/>
                </a:ext>
              </a:extLst>
            </p:cNvPr>
            <p:cNvCxnSpPr>
              <a:cxnSpLocks/>
            </p:cNvCxnSpPr>
            <p:nvPr/>
          </p:nvCxnSpPr>
          <p:spPr>
            <a:xfrm>
              <a:off x="5451238" y="1838996"/>
              <a:ext cx="120981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E6395C4-20F7-0179-193A-562F78CB04D2}"/>
                </a:ext>
              </a:extLst>
            </p:cNvPr>
            <p:cNvSpPr txBox="1"/>
            <p:nvPr/>
          </p:nvSpPr>
          <p:spPr>
            <a:xfrm>
              <a:off x="6806720" y="1608164"/>
              <a:ext cx="31693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 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floorval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  </a:t>
              </a:r>
              <a:r>
                <a:rPr lang="en-US" sz="2400" dirty="0">
                  <a:effectLst/>
                </a:rPr>
                <a:t>gives (2</a:t>
              </a:r>
              <a:r>
                <a:rPr lang="en-US" sz="2400" dirty="0"/>
                <a:t>)</a:t>
              </a:r>
              <a:r>
                <a:rPr lang="en-US" sz="2400" dirty="0">
                  <a:effectLst/>
                </a:rPr>
                <a:t> </a:t>
              </a:r>
              <a:endParaRPr lang="en-US" sz="2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llout: Bent Line with Accent Bar 38">
                <a:extLst>
                  <a:ext uri="{FF2B5EF4-FFF2-40B4-BE49-F238E27FC236}">
                    <a16:creationId xmlns:a16="http://schemas.microsoft.com/office/drawing/2014/main" id="{46371498-9922-E2C7-79C1-DA16EDAA38F3}"/>
                  </a:ext>
                </a:extLst>
              </p:cNvPr>
              <p:cNvSpPr/>
              <p:nvPr/>
            </p:nvSpPr>
            <p:spPr>
              <a:xfrm>
                <a:off x="10267078" y="3139111"/>
                <a:ext cx="860467" cy="505696"/>
              </a:xfrm>
              <a:prstGeom prst="accentCallout2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Callout: Bent Line with Accent Bar 38">
                <a:extLst>
                  <a:ext uri="{FF2B5EF4-FFF2-40B4-BE49-F238E27FC236}">
                    <a16:creationId xmlns:a16="http://schemas.microsoft.com/office/drawing/2014/main" id="{46371498-9922-E2C7-79C1-DA16EDAA38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7078" y="3139111"/>
                <a:ext cx="860467" cy="505696"/>
              </a:xfrm>
              <a:prstGeom prst="accentCallout2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670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109268-403E-8047-5CD7-5E9FB8DCE5B7}"/>
              </a:ext>
            </a:extLst>
          </p:cNvPr>
          <p:cNvSpPr/>
          <p:nvPr/>
        </p:nvSpPr>
        <p:spPr>
          <a:xfrm>
            <a:off x="239150" y="128862"/>
            <a:ext cx="5064370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Other Operations on Integers &amp; Real Numbers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5C0A98-8C44-C21E-CA05-4265E9745FE9}"/>
              </a:ext>
            </a:extLst>
          </p:cNvPr>
          <p:cNvGrpSpPr/>
          <p:nvPr/>
        </p:nvGrpSpPr>
        <p:grpSpPr>
          <a:xfrm>
            <a:off x="1718603" y="941437"/>
            <a:ext cx="8986911" cy="1344027"/>
            <a:chOff x="1739704" y="1069144"/>
            <a:chExt cx="8153403" cy="141211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D1BA0A-3DAF-D012-7F2C-190884F11869}"/>
                </a:ext>
              </a:extLst>
            </p:cNvPr>
            <p:cNvSpPr/>
            <p:nvPr/>
          </p:nvSpPr>
          <p:spPr>
            <a:xfrm>
              <a:off x="1744395" y="1237957"/>
              <a:ext cx="8148712" cy="9566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86B825-D316-47BC-27E0-658AA8204619}"/>
                </a:ext>
              </a:extLst>
            </p:cNvPr>
            <p:cNvSpPr/>
            <p:nvPr/>
          </p:nvSpPr>
          <p:spPr>
            <a:xfrm>
              <a:off x="1739704" y="1069144"/>
              <a:ext cx="3066757" cy="42203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Truncate a Number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583C14-F852-3B02-FC1E-76968661BE10}"/>
                </a:ext>
              </a:extLst>
            </p:cNvPr>
            <p:cNvSpPr txBox="1"/>
            <p:nvPr/>
          </p:nvSpPr>
          <p:spPr>
            <a:xfrm>
              <a:off x="2194561" y="1608164"/>
              <a:ext cx="3699802" cy="873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\TRUNCATE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[3]{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\sq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}{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smallsq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}</a:t>
              </a:r>
              <a:endParaRPr lang="en-US" sz="2400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B7AC003-F766-25E0-1359-06D0597F6E53}"/>
                </a:ext>
              </a:extLst>
            </p:cNvPr>
            <p:cNvCxnSpPr>
              <a:cxnSpLocks/>
            </p:cNvCxnSpPr>
            <p:nvPr/>
          </p:nvCxnSpPr>
          <p:spPr>
            <a:xfrm>
              <a:off x="5800452" y="1859718"/>
              <a:ext cx="86319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A6F678-5B00-FF2E-0877-0DF595E6C725}"/>
                </a:ext>
              </a:extLst>
            </p:cNvPr>
            <p:cNvSpPr txBox="1"/>
            <p:nvPr/>
          </p:nvSpPr>
          <p:spPr>
            <a:xfrm>
              <a:off x="6861519" y="1583048"/>
              <a:ext cx="3031588" cy="485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smallsq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  </a:t>
              </a:r>
              <a:r>
                <a:rPr lang="en-US" sz="2400" dirty="0">
                  <a:effectLst/>
                </a:rPr>
                <a:t>gives (</a:t>
              </a:r>
              <a:r>
                <a:rPr lang="en-US" sz="2400" dirty="0"/>
                <a:t>4.839)</a:t>
              </a:r>
              <a:r>
                <a:rPr lang="en-US" sz="2400" dirty="0">
                  <a:effectLst/>
                </a:rPr>
                <a:t> </a:t>
              </a:r>
              <a:endParaRPr lang="en-US" sz="2400" dirty="0"/>
            </a:p>
          </p:txBody>
        </p:sp>
      </p:grpSp>
      <p:sp>
        <p:nvSpPr>
          <p:cNvPr id="45" name="Callout: Bent Line with Accent Bar 44">
            <a:extLst>
              <a:ext uri="{FF2B5EF4-FFF2-40B4-BE49-F238E27FC236}">
                <a16:creationId xmlns:a16="http://schemas.microsoft.com/office/drawing/2014/main" id="{CFDD8A11-74E7-CE65-7F16-4219F4782289}"/>
              </a:ext>
            </a:extLst>
          </p:cNvPr>
          <p:cNvSpPr/>
          <p:nvPr/>
        </p:nvSpPr>
        <p:spPr>
          <a:xfrm>
            <a:off x="6308431" y="374660"/>
            <a:ext cx="1358116" cy="647114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5978"/>
              <a:gd name="adj6" fmla="val -70491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9F0003"/>
                </a:solidFill>
              </a:rPr>
              <a:t>\sq</a:t>
            </a:r>
            <a:r>
              <a:rPr lang="en-US" dirty="0"/>
              <a:t> is 4.83998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C6F1A82-EC0D-D6FC-D04B-E9F18C15FB88}"/>
              </a:ext>
            </a:extLst>
          </p:cNvPr>
          <p:cNvGrpSpPr/>
          <p:nvPr/>
        </p:nvGrpSpPr>
        <p:grpSpPr>
          <a:xfrm>
            <a:off x="1718603" y="2147783"/>
            <a:ext cx="8986911" cy="1071150"/>
            <a:chOff x="1739704" y="1069144"/>
            <a:chExt cx="8153403" cy="1125416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D44A7A9-24E9-A773-B31B-88D723C475BA}"/>
                </a:ext>
              </a:extLst>
            </p:cNvPr>
            <p:cNvSpPr/>
            <p:nvPr/>
          </p:nvSpPr>
          <p:spPr>
            <a:xfrm>
              <a:off x="1744395" y="1237957"/>
              <a:ext cx="8148712" cy="9566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F99A571-645B-1F1C-5EA7-F8590E3254E5}"/>
                </a:ext>
              </a:extLst>
            </p:cNvPr>
            <p:cNvSpPr/>
            <p:nvPr/>
          </p:nvSpPr>
          <p:spPr>
            <a:xfrm>
              <a:off x="1739704" y="1069144"/>
              <a:ext cx="3066757" cy="42203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Round a Number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28CE1B5-1A80-4328-1D2B-EACDB523A5C6}"/>
                </a:ext>
              </a:extLst>
            </p:cNvPr>
            <p:cNvSpPr txBox="1"/>
            <p:nvPr/>
          </p:nvSpPr>
          <p:spPr>
            <a:xfrm>
              <a:off x="2194561" y="1608164"/>
              <a:ext cx="3699802" cy="485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\ROUND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[1]{2.3564}{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rndval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}</a:t>
              </a:r>
              <a:endParaRPr lang="en-US" sz="2400" dirty="0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567B831-3743-B482-7C20-15C1CE1FCCBA}"/>
                </a:ext>
              </a:extLst>
            </p:cNvPr>
            <p:cNvCxnSpPr>
              <a:cxnSpLocks/>
            </p:cNvCxnSpPr>
            <p:nvPr/>
          </p:nvCxnSpPr>
          <p:spPr>
            <a:xfrm>
              <a:off x="5755781" y="1850690"/>
              <a:ext cx="952531" cy="90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F7A60F4-7BE4-2EC0-81D2-3455B2337E5E}"/>
                </a:ext>
              </a:extLst>
            </p:cNvPr>
            <p:cNvSpPr txBox="1"/>
            <p:nvPr/>
          </p:nvSpPr>
          <p:spPr>
            <a:xfrm>
              <a:off x="6861519" y="1583048"/>
              <a:ext cx="3031588" cy="485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 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rndval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  </a:t>
              </a:r>
              <a:r>
                <a:rPr lang="en-US" sz="2400" dirty="0">
                  <a:effectLst/>
                </a:rPr>
                <a:t>gives (</a:t>
              </a:r>
              <a:r>
                <a:rPr lang="en-US" sz="2400" dirty="0"/>
                <a:t>2.4)</a:t>
              </a:r>
              <a:r>
                <a:rPr lang="en-US" sz="2400" dirty="0">
                  <a:effectLst/>
                </a:rPr>
                <a:t> </a:t>
              </a:r>
              <a:endParaRPr lang="en-US" sz="24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061998E-0036-E2DA-1433-92B153551CC5}"/>
              </a:ext>
            </a:extLst>
          </p:cNvPr>
          <p:cNvGrpSpPr/>
          <p:nvPr/>
        </p:nvGrpSpPr>
        <p:grpSpPr>
          <a:xfrm>
            <a:off x="1721188" y="3336876"/>
            <a:ext cx="8986911" cy="1071150"/>
            <a:chOff x="1739704" y="1069144"/>
            <a:chExt cx="8153403" cy="112541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B1200EB-F609-E703-65F7-3DBF8D75EF74}"/>
                </a:ext>
              </a:extLst>
            </p:cNvPr>
            <p:cNvSpPr/>
            <p:nvPr/>
          </p:nvSpPr>
          <p:spPr>
            <a:xfrm>
              <a:off x="1744395" y="1237957"/>
              <a:ext cx="8148712" cy="9566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3CFBC62-AC6C-D767-DE0D-9D5B8B2BA7AB}"/>
                </a:ext>
              </a:extLst>
            </p:cNvPr>
            <p:cNvSpPr/>
            <p:nvPr/>
          </p:nvSpPr>
          <p:spPr>
            <a:xfrm>
              <a:off x="1739704" y="1069144"/>
              <a:ext cx="3066757" cy="42203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Modulus 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D9AECFC-E6F7-CFD3-1FF9-4DC4C08B310D}"/>
                </a:ext>
              </a:extLst>
            </p:cNvPr>
            <p:cNvSpPr txBox="1"/>
            <p:nvPr/>
          </p:nvSpPr>
          <p:spPr>
            <a:xfrm>
              <a:off x="2194561" y="1608164"/>
              <a:ext cx="3699802" cy="485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\MODULO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{5}{3}{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\modulus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}</a:t>
              </a:r>
              <a:endParaRPr lang="en-US" sz="2400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9B7A632D-2A13-122F-4282-35311972CB81}"/>
                </a:ext>
              </a:extLst>
            </p:cNvPr>
            <p:cNvCxnSpPr>
              <a:cxnSpLocks/>
            </p:cNvCxnSpPr>
            <p:nvPr/>
          </p:nvCxnSpPr>
          <p:spPr>
            <a:xfrm>
              <a:off x="5606129" y="1850690"/>
              <a:ext cx="1102183" cy="90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F84FA21-2048-8F86-5546-35C888AD0C62}"/>
                </a:ext>
              </a:extLst>
            </p:cNvPr>
            <p:cNvSpPr txBox="1"/>
            <p:nvPr/>
          </p:nvSpPr>
          <p:spPr>
            <a:xfrm>
              <a:off x="6861519" y="1583048"/>
              <a:ext cx="3031588" cy="485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 \modulus  </a:t>
              </a:r>
              <a:r>
                <a:rPr lang="en-US" sz="2400" dirty="0">
                  <a:effectLst/>
                </a:rPr>
                <a:t>gives (</a:t>
              </a:r>
              <a:r>
                <a:rPr lang="en-US" sz="2400" dirty="0"/>
                <a:t>2)</a:t>
              </a:r>
              <a:r>
                <a:rPr lang="en-US" sz="2400" dirty="0">
                  <a:effectLst/>
                </a:rPr>
                <a:t> </a:t>
              </a:r>
              <a:endParaRPr lang="en-US" sz="2400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A046A2C-3E62-3710-8A0D-23939933E359}"/>
              </a:ext>
            </a:extLst>
          </p:cNvPr>
          <p:cNvGrpSpPr/>
          <p:nvPr/>
        </p:nvGrpSpPr>
        <p:grpSpPr>
          <a:xfrm>
            <a:off x="1718603" y="4548344"/>
            <a:ext cx="8986911" cy="1071150"/>
            <a:chOff x="1739704" y="1069144"/>
            <a:chExt cx="8153403" cy="112541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5597C8A-C483-FE3B-58DA-97C2E3DBA3FB}"/>
                </a:ext>
              </a:extLst>
            </p:cNvPr>
            <p:cNvSpPr/>
            <p:nvPr/>
          </p:nvSpPr>
          <p:spPr>
            <a:xfrm>
              <a:off x="1744395" y="1237957"/>
              <a:ext cx="8148712" cy="9566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886AD5D-2FDC-9A52-F902-DBA1F3B67AAE}"/>
                </a:ext>
              </a:extLst>
            </p:cNvPr>
            <p:cNvSpPr/>
            <p:nvPr/>
          </p:nvSpPr>
          <p:spPr>
            <a:xfrm>
              <a:off x="1739704" y="1069144"/>
              <a:ext cx="3066757" cy="42203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effectLst/>
                </a:rPr>
                <a:t>Greatest Common </a:t>
              </a:r>
              <a:r>
                <a:rPr lang="en-US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  <a:effectLst/>
                </a:rPr>
                <a:t>ivisor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2BB92C0-B4DD-1679-40B3-FF8B038F944F}"/>
                </a:ext>
              </a:extLst>
            </p:cNvPr>
            <p:cNvSpPr txBox="1"/>
            <p:nvPr/>
          </p:nvSpPr>
          <p:spPr>
            <a:xfrm>
              <a:off x="2194561" y="1608164"/>
              <a:ext cx="3699802" cy="485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\GCD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{520}{350}{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greatdiv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} </a:t>
              </a:r>
              <a:endParaRPr lang="en-US" sz="2400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B6F88FF-8E0B-5783-A856-C82CB86C12B4}"/>
                </a:ext>
              </a:extLst>
            </p:cNvPr>
            <p:cNvCxnSpPr>
              <a:cxnSpLocks/>
            </p:cNvCxnSpPr>
            <p:nvPr/>
          </p:nvCxnSpPr>
          <p:spPr>
            <a:xfrm>
              <a:off x="5608474" y="1850690"/>
              <a:ext cx="123709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E2E1CD4-C211-439A-9605-A732C7B58C2D}"/>
                </a:ext>
              </a:extLst>
            </p:cNvPr>
            <p:cNvSpPr txBox="1"/>
            <p:nvPr/>
          </p:nvSpPr>
          <p:spPr>
            <a:xfrm>
              <a:off x="6861519" y="1583048"/>
              <a:ext cx="3031588" cy="485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 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greatdiv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  </a:t>
              </a:r>
              <a:r>
                <a:rPr lang="en-US" sz="2400" dirty="0">
                  <a:effectLst/>
                </a:rPr>
                <a:t>gives (10</a:t>
              </a:r>
              <a:r>
                <a:rPr lang="en-US" sz="2400" dirty="0"/>
                <a:t>)</a:t>
              </a:r>
              <a:r>
                <a:rPr lang="en-US" sz="2400" dirty="0">
                  <a:effectLst/>
                </a:rPr>
                <a:t> </a:t>
              </a:r>
              <a:endParaRPr lang="en-US" sz="240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CF7E884-D325-3EFC-0083-F76F75705B76}"/>
              </a:ext>
            </a:extLst>
          </p:cNvPr>
          <p:cNvGrpSpPr/>
          <p:nvPr/>
        </p:nvGrpSpPr>
        <p:grpSpPr>
          <a:xfrm>
            <a:off x="1701018" y="5729964"/>
            <a:ext cx="8986911" cy="1071150"/>
            <a:chOff x="1739704" y="1069144"/>
            <a:chExt cx="8153403" cy="1125416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5C92ED5-25F6-32C6-8302-9B853BE39839}"/>
                </a:ext>
              </a:extLst>
            </p:cNvPr>
            <p:cNvSpPr/>
            <p:nvPr/>
          </p:nvSpPr>
          <p:spPr>
            <a:xfrm>
              <a:off x="1744395" y="1237957"/>
              <a:ext cx="8148712" cy="9566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36E70B7-8549-8A36-1EF5-BEB38DBD728D}"/>
                </a:ext>
              </a:extLst>
            </p:cNvPr>
            <p:cNvSpPr/>
            <p:nvPr/>
          </p:nvSpPr>
          <p:spPr>
            <a:xfrm>
              <a:off x="1739704" y="1069144"/>
              <a:ext cx="3066757" cy="42203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effectLst/>
                </a:rPr>
                <a:t>Least Common Multiple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573CFB2-0E62-55FD-6886-4D3000524406}"/>
                </a:ext>
              </a:extLst>
            </p:cNvPr>
            <p:cNvSpPr txBox="1"/>
            <p:nvPr/>
          </p:nvSpPr>
          <p:spPr>
            <a:xfrm>
              <a:off x="2194561" y="1608164"/>
              <a:ext cx="3699802" cy="485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\LCM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{25}{79}{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leastcom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} </a:t>
              </a:r>
              <a:endParaRPr lang="en-US" sz="2400" dirty="0"/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990D7AD4-0299-AA80-3DD0-347764AF44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3077" y="1859718"/>
              <a:ext cx="1215235" cy="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510EE9B-B035-44BE-560E-29003AD0E828}"/>
                </a:ext>
              </a:extLst>
            </p:cNvPr>
            <p:cNvSpPr txBox="1"/>
            <p:nvPr/>
          </p:nvSpPr>
          <p:spPr>
            <a:xfrm>
              <a:off x="6861519" y="1583048"/>
              <a:ext cx="3031588" cy="485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 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leastcom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  </a:t>
              </a:r>
              <a:r>
                <a:rPr lang="en-US" sz="2400" dirty="0">
                  <a:effectLst/>
                </a:rPr>
                <a:t>gives (</a:t>
              </a:r>
              <a:r>
                <a:rPr lang="en-US" sz="2400" dirty="0"/>
                <a:t>1975)</a:t>
              </a:r>
              <a:r>
                <a:rPr lang="en-US" sz="2400" dirty="0">
                  <a:effectLst/>
                </a:rPr>
                <a:t> 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6106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07ECEC-E46A-5963-38B0-66318EDD9DD7}"/>
              </a:ext>
            </a:extLst>
          </p:cNvPr>
          <p:cNvSpPr/>
          <p:nvPr/>
        </p:nvSpPr>
        <p:spPr>
          <a:xfrm>
            <a:off x="541605" y="289660"/>
            <a:ext cx="5064370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Operations on Vectors and Matrices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FBE9A-249C-8175-5D1B-822D1076783C}"/>
              </a:ext>
            </a:extLst>
          </p:cNvPr>
          <p:cNvSpPr txBox="1"/>
          <p:nvPr/>
        </p:nvSpPr>
        <p:spPr>
          <a:xfrm>
            <a:off x="956601" y="1237958"/>
            <a:ext cx="9073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 Package only works with two or three dimensional vectors.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973BD6-5D4C-0A5E-C5BD-E2525AC67608}"/>
              </a:ext>
            </a:extLst>
          </p:cNvPr>
          <p:cNvSpPr txBox="1"/>
          <p:nvPr/>
        </p:nvSpPr>
        <p:spPr>
          <a:xfrm>
            <a:off x="1294226" y="1611307"/>
            <a:ext cx="9073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Meaning column vectors that has two or three elements.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858479-8DC0-EF9D-7F8D-F79B0F25DD7E}"/>
              </a:ext>
            </a:extLst>
          </p:cNvPr>
          <p:cNvSpPr/>
          <p:nvPr/>
        </p:nvSpPr>
        <p:spPr>
          <a:xfrm>
            <a:off x="1069145" y="2446761"/>
            <a:ext cx="10424160" cy="162685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BEDE49-D155-8383-F566-1631FA45C195}"/>
              </a:ext>
            </a:extLst>
          </p:cNvPr>
          <p:cNvSpPr txBox="1"/>
          <p:nvPr/>
        </p:nvSpPr>
        <p:spPr>
          <a:xfrm>
            <a:off x="1695155" y="2772941"/>
            <a:ext cx="9959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Two-Dim   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rgbClr val="9F0003"/>
                </a:solidFill>
              </a:rPr>
              <a:t> \VECTORCOPY </a:t>
            </a:r>
            <a:r>
              <a:rPr lang="en-US" sz="3200" dirty="0"/>
              <a:t>(a, b)(</a:t>
            </a:r>
            <a:r>
              <a:rPr lang="en-US" sz="2800" dirty="0">
                <a:solidFill>
                  <a:srgbClr val="9F0003"/>
                </a:solidFill>
              </a:rPr>
              <a:t>\</a:t>
            </a:r>
            <a:r>
              <a:rPr lang="en-US" sz="2800" dirty="0" err="1">
                <a:solidFill>
                  <a:srgbClr val="9F0003"/>
                </a:solidFill>
              </a:rPr>
              <a:t>cmda</a:t>
            </a:r>
            <a:r>
              <a:rPr lang="en-US" sz="3200" dirty="0"/>
              <a:t>, </a:t>
            </a:r>
            <a:r>
              <a:rPr lang="en-US" sz="2800" dirty="0">
                <a:solidFill>
                  <a:srgbClr val="9F0003"/>
                </a:solidFill>
              </a:rPr>
              <a:t>\</a:t>
            </a:r>
            <a:r>
              <a:rPr lang="en-US" sz="2800" dirty="0" err="1">
                <a:solidFill>
                  <a:srgbClr val="9F0003"/>
                </a:solidFill>
              </a:rPr>
              <a:t>cmdb</a:t>
            </a:r>
            <a:r>
              <a:rPr lang="en-US" sz="3200" dirty="0"/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7FB002-39F1-D5E8-B9A1-77DF88151007}"/>
              </a:ext>
            </a:extLst>
          </p:cNvPr>
          <p:cNvSpPr/>
          <p:nvPr/>
        </p:nvSpPr>
        <p:spPr>
          <a:xfrm>
            <a:off x="1069145" y="2205343"/>
            <a:ext cx="3502855" cy="43088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Assigning Vectors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A85B6-F602-BCD6-1D8F-375821FC2F7D}"/>
              </a:ext>
            </a:extLst>
          </p:cNvPr>
          <p:cNvSpPr txBox="1"/>
          <p:nvPr/>
        </p:nvSpPr>
        <p:spPr>
          <a:xfrm>
            <a:off x="1695155" y="3306746"/>
            <a:ext cx="9959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Three-Dim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rgbClr val="9F0003"/>
                </a:solidFill>
              </a:rPr>
              <a:t> \VECTORCOPY </a:t>
            </a:r>
            <a:r>
              <a:rPr lang="en-US" sz="3200" dirty="0"/>
              <a:t>(a, b, c)(</a:t>
            </a:r>
            <a:r>
              <a:rPr lang="en-US" sz="2800" dirty="0">
                <a:solidFill>
                  <a:srgbClr val="9F0003"/>
                </a:solidFill>
              </a:rPr>
              <a:t>\</a:t>
            </a:r>
            <a:r>
              <a:rPr lang="en-US" sz="2800" dirty="0" err="1">
                <a:solidFill>
                  <a:srgbClr val="9F0003"/>
                </a:solidFill>
              </a:rPr>
              <a:t>cmda</a:t>
            </a:r>
            <a:r>
              <a:rPr lang="en-US" sz="3200" dirty="0"/>
              <a:t>, </a:t>
            </a:r>
            <a:r>
              <a:rPr lang="en-US" sz="2800" dirty="0">
                <a:solidFill>
                  <a:srgbClr val="9F0003"/>
                </a:solidFill>
              </a:rPr>
              <a:t>\</a:t>
            </a:r>
            <a:r>
              <a:rPr lang="en-US" sz="2800" dirty="0" err="1">
                <a:solidFill>
                  <a:srgbClr val="9F0003"/>
                </a:solidFill>
              </a:rPr>
              <a:t>cmdb</a:t>
            </a:r>
            <a:r>
              <a:rPr lang="en-US" sz="2800" dirty="0">
                <a:solidFill>
                  <a:srgbClr val="9F0003"/>
                </a:solidFill>
              </a:rPr>
              <a:t>, \</a:t>
            </a:r>
            <a:r>
              <a:rPr lang="en-US" sz="2800" dirty="0" err="1">
                <a:solidFill>
                  <a:srgbClr val="9F0003"/>
                </a:solidFill>
              </a:rPr>
              <a:t>cmdc</a:t>
            </a:r>
            <a:r>
              <a:rPr lang="en-US" sz="32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75ECDB-F77F-1C3B-D267-A0CB13244F3C}"/>
              </a:ext>
            </a:extLst>
          </p:cNvPr>
          <p:cNvSpPr txBox="1"/>
          <p:nvPr/>
        </p:nvSpPr>
        <p:spPr>
          <a:xfrm>
            <a:off x="984737" y="4216568"/>
            <a:ext cx="10086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 package can only handle operations of square matrices of size 2x2 and 3x3.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4C0582-E743-F3DC-BA7F-35C84EC034B1}"/>
              </a:ext>
            </a:extLst>
          </p:cNvPr>
          <p:cNvSpPr/>
          <p:nvPr/>
        </p:nvSpPr>
        <p:spPr>
          <a:xfrm>
            <a:off x="1069145" y="5023748"/>
            <a:ext cx="10424160" cy="162685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2538BC-2D57-AB03-A2DF-E490516979D8}"/>
              </a:ext>
            </a:extLst>
          </p:cNvPr>
          <p:cNvSpPr txBox="1"/>
          <p:nvPr/>
        </p:nvSpPr>
        <p:spPr>
          <a:xfrm>
            <a:off x="1132446" y="5348749"/>
            <a:ext cx="10424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2x2   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rgbClr val="9F0003"/>
                </a:solidFill>
              </a:rPr>
              <a:t> \</a:t>
            </a:r>
            <a:r>
              <a:rPr lang="en-US" sz="2800" dirty="0">
                <a:solidFill>
                  <a:srgbClr val="9F0003"/>
                </a:solidFill>
                <a:effectLst/>
              </a:rPr>
              <a:t>MATRIXCOPY </a:t>
            </a:r>
            <a:r>
              <a:rPr lang="en-US" sz="3200" dirty="0"/>
              <a:t>(a, b </a:t>
            </a:r>
            <a:r>
              <a:rPr lang="en-US" sz="3200" b="1" dirty="0">
                <a:solidFill>
                  <a:schemeClr val="accent6"/>
                </a:solidFill>
              </a:rPr>
              <a:t>;</a:t>
            </a:r>
            <a:r>
              <a:rPr lang="en-US" sz="3200" dirty="0"/>
              <a:t> c, d)(</a:t>
            </a:r>
            <a:r>
              <a:rPr lang="en-US" sz="2800" dirty="0">
                <a:solidFill>
                  <a:srgbClr val="9F0003"/>
                </a:solidFill>
              </a:rPr>
              <a:t>\</a:t>
            </a:r>
            <a:r>
              <a:rPr lang="en-US" sz="2800" dirty="0" err="1">
                <a:solidFill>
                  <a:srgbClr val="9F0003"/>
                </a:solidFill>
              </a:rPr>
              <a:t>cmda</a:t>
            </a:r>
            <a:r>
              <a:rPr lang="en-US" sz="3200" dirty="0"/>
              <a:t>, </a:t>
            </a:r>
            <a:r>
              <a:rPr lang="en-US" sz="2800" dirty="0">
                <a:solidFill>
                  <a:srgbClr val="9F0003"/>
                </a:solidFill>
              </a:rPr>
              <a:t>\</a:t>
            </a:r>
            <a:r>
              <a:rPr lang="en-US" sz="2800" dirty="0" err="1">
                <a:solidFill>
                  <a:srgbClr val="9F0003"/>
                </a:solidFill>
              </a:rPr>
              <a:t>cmdb</a:t>
            </a:r>
            <a:r>
              <a:rPr lang="en-US" sz="2800" dirty="0">
                <a:solidFill>
                  <a:srgbClr val="9F0003"/>
                </a:solidFill>
              </a:rPr>
              <a:t> </a:t>
            </a:r>
            <a:r>
              <a:rPr lang="en-US" sz="2800" b="1" dirty="0">
                <a:solidFill>
                  <a:schemeClr val="accent6"/>
                </a:solidFill>
              </a:rPr>
              <a:t>;</a:t>
            </a:r>
            <a:r>
              <a:rPr lang="en-US" sz="2800" dirty="0">
                <a:solidFill>
                  <a:srgbClr val="9F0003"/>
                </a:solidFill>
              </a:rPr>
              <a:t> </a:t>
            </a:r>
            <a:r>
              <a:rPr lang="en-US" sz="2800" dirty="0" err="1">
                <a:solidFill>
                  <a:srgbClr val="9F0003"/>
                </a:solidFill>
              </a:rPr>
              <a:t>cmdc</a:t>
            </a:r>
            <a:r>
              <a:rPr lang="en-US" sz="3200" dirty="0"/>
              <a:t>, </a:t>
            </a:r>
            <a:r>
              <a:rPr lang="en-US" sz="2800" dirty="0">
                <a:solidFill>
                  <a:srgbClr val="9F0003"/>
                </a:solidFill>
              </a:rPr>
              <a:t>\</a:t>
            </a:r>
            <a:r>
              <a:rPr lang="en-US" sz="2800" dirty="0" err="1">
                <a:solidFill>
                  <a:srgbClr val="9F0003"/>
                </a:solidFill>
              </a:rPr>
              <a:t>cmdd</a:t>
            </a:r>
            <a:r>
              <a:rPr lang="en-US" sz="2800" dirty="0">
                <a:solidFill>
                  <a:srgbClr val="9F0003"/>
                </a:solidFill>
              </a:rPr>
              <a:t> </a:t>
            </a:r>
            <a:r>
              <a:rPr lang="en-US" sz="3200" dirty="0"/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841390-A93B-27B6-5742-20EA730732B5}"/>
              </a:ext>
            </a:extLst>
          </p:cNvPr>
          <p:cNvSpPr/>
          <p:nvPr/>
        </p:nvSpPr>
        <p:spPr>
          <a:xfrm>
            <a:off x="1069145" y="4782330"/>
            <a:ext cx="3502855" cy="43088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Assigning Matrices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4EC249-C28A-2783-639A-F5F911BD9D5A}"/>
              </a:ext>
            </a:extLst>
          </p:cNvPr>
          <p:cNvSpPr txBox="1"/>
          <p:nvPr/>
        </p:nvSpPr>
        <p:spPr>
          <a:xfrm>
            <a:off x="1132446" y="5882814"/>
            <a:ext cx="10452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3x3   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rgbClr val="9F0003"/>
                </a:solidFill>
              </a:rPr>
              <a:t> \</a:t>
            </a:r>
            <a:r>
              <a:rPr lang="en-US" sz="2800" dirty="0">
                <a:solidFill>
                  <a:srgbClr val="9F0003"/>
                </a:solidFill>
                <a:effectLst/>
              </a:rPr>
              <a:t>MATRIXCOPY </a:t>
            </a:r>
            <a:r>
              <a:rPr lang="en-US" sz="3200" dirty="0"/>
              <a:t>(a11, a12, a13 </a:t>
            </a:r>
            <a:r>
              <a:rPr lang="en-US" sz="3200" b="1" dirty="0">
                <a:solidFill>
                  <a:schemeClr val="accent6"/>
                </a:solidFill>
              </a:rPr>
              <a:t>; </a:t>
            </a:r>
            <a:r>
              <a:rPr lang="en-US" sz="3200" dirty="0"/>
              <a:t>…)(</a:t>
            </a:r>
            <a:r>
              <a:rPr lang="en-US" sz="2800" dirty="0">
                <a:solidFill>
                  <a:srgbClr val="9F0003"/>
                </a:solidFill>
              </a:rPr>
              <a:t>Assigning Commands</a:t>
            </a:r>
            <a:r>
              <a:rPr lang="en-US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759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 animBg="1"/>
      <p:bldP spid="10" grpId="0"/>
      <p:bldP spid="11" grpId="0" animBg="1"/>
      <p:bldP spid="12" grpId="0"/>
      <p:bldP spid="13" grpId="0"/>
      <p:bldP spid="14" grpId="0" animBg="1"/>
      <p:bldP spid="15" grpId="0"/>
      <p:bldP spid="16" grpId="0" animBg="1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63C8D9-EABC-A97C-C9E1-48A97A62F4A0}"/>
              </a:ext>
            </a:extLst>
          </p:cNvPr>
          <p:cNvSpPr/>
          <p:nvPr/>
        </p:nvSpPr>
        <p:spPr>
          <a:xfrm>
            <a:off x="390182" y="215158"/>
            <a:ext cx="4086666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calculus Package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58CCC4-AF25-A96E-7DFF-30ED2A49F962}"/>
              </a:ext>
            </a:extLst>
          </p:cNvPr>
          <p:cNvGrpSpPr/>
          <p:nvPr/>
        </p:nvGrpSpPr>
        <p:grpSpPr>
          <a:xfrm>
            <a:off x="2410851" y="2048803"/>
            <a:ext cx="7244862" cy="872197"/>
            <a:chOff x="1308295" y="1617784"/>
            <a:chExt cx="7244862" cy="87219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0165319-9552-27EB-FDEC-32438D9F2BBD}"/>
                </a:ext>
              </a:extLst>
            </p:cNvPr>
            <p:cNvSpPr/>
            <p:nvPr/>
          </p:nvSpPr>
          <p:spPr>
            <a:xfrm>
              <a:off x="1308295" y="1617784"/>
              <a:ext cx="7244862" cy="8721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8C1AC7-24FF-1BE3-7D37-14B76A4DF196}"/>
                </a:ext>
              </a:extLst>
            </p:cNvPr>
            <p:cNvSpPr txBox="1"/>
            <p:nvPr/>
          </p:nvSpPr>
          <p:spPr>
            <a:xfrm>
              <a:off x="1448972" y="1744394"/>
              <a:ext cx="68368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9F0003"/>
                  </a:solidFill>
                </a:rPr>
                <a:t>\</a:t>
              </a:r>
              <a:r>
                <a:rPr lang="en-US" sz="3600" dirty="0" err="1">
                  <a:solidFill>
                    <a:srgbClr val="9F0003"/>
                  </a:solidFill>
                </a:rPr>
                <a:t>SQUARE</a:t>
              </a:r>
              <a:r>
                <a:rPr lang="en-US" sz="3600" dirty="0" err="1">
                  <a:solidFill>
                    <a:srgbClr val="C00000"/>
                  </a:solidFill>
                </a:rPr>
                <a:t>function</a:t>
              </a:r>
              <a:r>
                <a:rPr lang="en-US" sz="3600" dirty="0"/>
                <a:t>{num}{\sol}{\</a:t>
              </a:r>
              <a:r>
                <a:rPr lang="en-US" sz="3600" dirty="0" err="1"/>
                <a:t>Dsol</a:t>
              </a:r>
              <a:r>
                <a:rPr lang="en-US" sz="3600" dirty="0"/>
                <a:t>}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F3F938-D445-A8BE-7210-744BF10B0848}"/>
              </a:ext>
            </a:extLst>
          </p:cNvPr>
          <p:cNvGrpSpPr/>
          <p:nvPr/>
        </p:nvGrpSpPr>
        <p:grpSpPr>
          <a:xfrm>
            <a:off x="5176142" y="941132"/>
            <a:ext cx="1238946" cy="1372649"/>
            <a:chOff x="5176142" y="941132"/>
            <a:chExt cx="1238946" cy="1372649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9B61447-00F3-3632-EF67-D70F736931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85571" y="1529082"/>
              <a:ext cx="529517" cy="78469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BD097D3-C244-3B4C-945B-11C04D341DB0}"/>
                </a:ext>
              </a:extLst>
            </p:cNvPr>
            <p:cNvSpPr/>
            <p:nvPr/>
          </p:nvSpPr>
          <p:spPr>
            <a:xfrm>
              <a:off x="5176142" y="941132"/>
              <a:ext cx="1174652" cy="587950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Input Number</a:t>
              </a:r>
            </a:p>
          </p:txBody>
        </p:sp>
      </p:grpSp>
      <p:sp>
        <p:nvSpPr>
          <p:cNvPr id="13" name="Callout: Line 12">
            <a:extLst>
              <a:ext uri="{FF2B5EF4-FFF2-40B4-BE49-F238E27FC236}">
                <a16:creationId xmlns:a16="http://schemas.microsoft.com/office/drawing/2014/main" id="{7D6060E7-9645-F1A0-1C20-B39126EAF428}"/>
              </a:ext>
            </a:extLst>
          </p:cNvPr>
          <p:cNvSpPr/>
          <p:nvPr/>
        </p:nvSpPr>
        <p:spPr>
          <a:xfrm>
            <a:off x="8432435" y="935060"/>
            <a:ext cx="1460500" cy="784699"/>
          </a:xfrm>
          <a:prstGeom prst="borderCallout1">
            <a:avLst>
              <a:gd name="adj1" fmla="val 18750"/>
              <a:gd name="adj2" fmla="val -8333"/>
              <a:gd name="adj3" fmla="val 170764"/>
              <a:gd name="adj4" fmla="val -53985"/>
            </a:avLst>
          </a:prstGeom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Solution of the Function</a:t>
            </a:r>
          </a:p>
        </p:txBody>
      </p:sp>
      <p:sp>
        <p:nvSpPr>
          <p:cNvPr id="14" name="Callout: Line 13">
            <a:extLst>
              <a:ext uri="{FF2B5EF4-FFF2-40B4-BE49-F238E27FC236}">
                <a16:creationId xmlns:a16="http://schemas.microsoft.com/office/drawing/2014/main" id="{B9C38DDD-FAD1-EBC2-6109-A6B1D239C975}"/>
              </a:ext>
            </a:extLst>
          </p:cNvPr>
          <p:cNvSpPr/>
          <p:nvPr/>
        </p:nvSpPr>
        <p:spPr>
          <a:xfrm>
            <a:off x="9655713" y="3227246"/>
            <a:ext cx="1460500" cy="784699"/>
          </a:xfrm>
          <a:prstGeom prst="borderCallout1">
            <a:avLst>
              <a:gd name="adj1" fmla="val 18750"/>
              <a:gd name="adj2" fmla="val -8333"/>
              <a:gd name="adj3" fmla="val -57438"/>
              <a:gd name="adj4" fmla="val -61811"/>
            </a:avLst>
          </a:prstGeom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Derivative of </a:t>
            </a:r>
            <a:r>
              <a:rPr lang="en-US" sz="1400" dirty="0" err="1"/>
              <a:t>Func</a:t>
            </a:r>
            <a:r>
              <a:rPr lang="en-US" sz="1400" dirty="0"/>
              <a:t> Evaluated at Input Number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915B01-1C43-890A-B0B1-1AC53AD8B5D1}"/>
              </a:ext>
            </a:extLst>
          </p:cNvPr>
          <p:cNvSpPr/>
          <p:nvPr/>
        </p:nvSpPr>
        <p:spPr>
          <a:xfrm>
            <a:off x="876299" y="3928565"/>
            <a:ext cx="8169227" cy="233175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7175D-83C3-07F5-C69E-4D0B9E19CC5A}"/>
              </a:ext>
            </a:extLst>
          </p:cNvPr>
          <p:cNvSpPr txBox="1"/>
          <p:nvPr/>
        </p:nvSpPr>
        <p:spPr>
          <a:xfrm>
            <a:off x="1092200" y="4050521"/>
            <a:ext cx="749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we have an input </a:t>
            </a:r>
            <a:r>
              <a:rPr lang="en-US" sz="2400" dirty="0">
                <a:solidFill>
                  <a:schemeClr val="accent1"/>
                </a:solidFill>
              </a:rPr>
              <a:t>t = 3</a:t>
            </a:r>
            <a:r>
              <a:rPr lang="en-US" sz="2400" dirty="0"/>
              <a:t>, and the square function is </a:t>
            </a:r>
            <a:r>
              <a:rPr lang="en-US" sz="2400" dirty="0">
                <a:solidFill>
                  <a:schemeClr val="accent1"/>
                </a:solidFill>
              </a:rPr>
              <a:t>f(t)=t^2</a:t>
            </a:r>
            <a:r>
              <a:rPr lang="en-US" sz="2400" dirty="0"/>
              <a:t>, and this has a derivative of </a:t>
            </a:r>
            <a:r>
              <a:rPr lang="en-US" sz="2400" dirty="0">
                <a:solidFill>
                  <a:schemeClr val="accent1"/>
                </a:solidFill>
              </a:rPr>
              <a:t>f’(t)=2t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58CC9-FBAA-5A98-22AF-84FE77E2490D}"/>
              </a:ext>
            </a:extLst>
          </p:cNvPr>
          <p:cNvSpPr txBox="1"/>
          <p:nvPr/>
        </p:nvSpPr>
        <p:spPr>
          <a:xfrm>
            <a:off x="1092200" y="4916332"/>
            <a:ext cx="718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F0003"/>
                </a:solidFill>
                <a:effectLst/>
              </a:rPr>
              <a:t>\</a:t>
            </a:r>
            <a:r>
              <a:rPr lang="en-US" sz="2400" dirty="0" err="1">
                <a:solidFill>
                  <a:srgbClr val="9F0003"/>
                </a:solidFill>
                <a:effectLst/>
              </a:rPr>
              <a:t>SQUAREfunction</a:t>
            </a:r>
            <a:r>
              <a:rPr lang="en-US" sz="2400" dirty="0">
                <a:solidFill>
                  <a:srgbClr val="000000"/>
                </a:solidFill>
                <a:effectLst/>
              </a:rPr>
              <a:t>{3}{</a:t>
            </a:r>
            <a:r>
              <a:rPr lang="en-US" sz="2400" dirty="0">
                <a:solidFill>
                  <a:srgbClr val="9F0003"/>
                </a:solidFill>
                <a:effectLst/>
              </a:rPr>
              <a:t>\</a:t>
            </a:r>
            <a:r>
              <a:rPr lang="en-US" sz="2400" dirty="0" err="1">
                <a:solidFill>
                  <a:srgbClr val="9F0003"/>
                </a:solidFill>
                <a:effectLst/>
              </a:rPr>
              <a:t>threesol</a:t>
            </a:r>
            <a:r>
              <a:rPr lang="en-US" sz="2400" dirty="0">
                <a:solidFill>
                  <a:srgbClr val="000000"/>
                </a:solidFill>
                <a:effectLst/>
              </a:rPr>
              <a:t>}{</a:t>
            </a:r>
            <a:r>
              <a:rPr lang="en-US" sz="2400" dirty="0">
                <a:solidFill>
                  <a:srgbClr val="9F0003"/>
                </a:solidFill>
                <a:effectLst/>
              </a:rPr>
              <a:t>\</a:t>
            </a:r>
            <a:r>
              <a:rPr lang="en-US" sz="2400" dirty="0" err="1">
                <a:solidFill>
                  <a:srgbClr val="9F0003"/>
                </a:solidFill>
                <a:effectLst/>
              </a:rPr>
              <a:t>Dthreesol</a:t>
            </a:r>
            <a:r>
              <a:rPr lang="en-US" sz="2400" dirty="0">
                <a:solidFill>
                  <a:srgbClr val="000000"/>
                </a:solidFill>
                <a:effectLst/>
              </a:rPr>
              <a:t>}</a:t>
            </a:r>
            <a:endParaRPr lang="en-US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14199D1-26D9-0B31-03CC-D7B4D7C443E0}"/>
              </a:ext>
            </a:extLst>
          </p:cNvPr>
          <p:cNvGrpSpPr/>
          <p:nvPr/>
        </p:nvGrpSpPr>
        <p:grpSpPr>
          <a:xfrm>
            <a:off x="1219298" y="5488055"/>
            <a:ext cx="3511452" cy="577524"/>
            <a:chOff x="1219298" y="5476134"/>
            <a:chExt cx="3511452" cy="5775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87E7D01-EED4-EAB7-9D0E-50892DCCBAFB}"/>
                </a:ext>
              </a:extLst>
            </p:cNvPr>
            <p:cNvSpPr/>
            <p:nvPr/>
          </p:nvSpPr>
          <p:spPr>
            <a:xfrm>
              <a:off x="1219298" y="5476134"/>
              <a:ext cx="3511452" cy="577524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090B5F1-8D0D-E6D3-D2C2-34BCD39EBCD3}"/>
                </a:ext>
              </a:extLst>
            </p:cNvPr>
            <p:cNvSpPr txBox="1"/>
            <p:nvPr/>
          </p:nvSpPr>
          <p:spPr>
            <a:xfrm>
              <a:off x="1317228" y="5534063"/>
              <a:ext cx="33155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threesol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 </a:t>
              </a:r>
              <a:r>
                <a:rPr lang="en-US" sz="2400" dirty="0">
                  <a:effectLst/>
                </a:rPr>
                <a:t>is f(3)=3^2 </a:t>
              </a:r>
              <a:r>
                <a:rPr lang="en-US" sz="2400" dirty="0">
                  <a:effectLst/>
                  <a:sym typeface="Wingdings" panose="05000000000000000000" pitchFamily="2" charset="2"/>
                </a:rPr>
                <a:t> 9</a:t>
              </a:r>
              <a:endParaRPr lang="en-US" sz="2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989B2C3-2774-1130-A543-104B511CBA0B}"/>
              </a:ext>
            </a:extLst>
          </p:cNvPr>
          <p:cNvGrpSpPr/>
          <p:nvPr/>
        </p:nvGrpSpPr>
        <p:grpSpPr>
          <a:xfrm>
            <a:off x="4960912" y="5493350"/>
            <a:ext cx="3784551" cy="577524"/>
            <a:chOff x="1219298" y="5476134"/>
            <a:chExt cx="3511452" cy="57752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F87BA0D-6EC1-68E3-D227-F2C2D5E04326}"/>
                </a:ext>
              </a:extLst>
            </p:cNvPr>
            <p:cNvSpPr/>
            <p:nvPr/>
          </p:nvSpPr>
          <p:spPr>
            <a:xfrm>
              <a:off x="1219298" y="5476134"/>
              <a:ext cx="3511452" cy="577524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6CE16D5-386A-BEAC-4FA4-AB5476AF2450}"/>
                </a:ext>
              </a:extLst>
            </p:cNvPr>
            <p:cNvSpPr txBox="1"/>
            <p:nvPr/>
          </p:nvSpPr>
          <p:spPr>
            <a:xfrm>
              <a:off x="1317228" y="5534063"/>
              <a:ext cx="33155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Dthreesol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 </a:t>
              </a:r>
              <a:r>
                <a:rPr lang="en-US" sz="2400" dirty="0">
                  <a:effectLst/>
                </a:rPr>
                <a:t>is f’(3)=2*3 </a:t>
              </a:r>
              <a:r>
                <a:rPr lang="en-US" sz="2400" dirty="0">
                  <a:effectLst/>
                  <a:sym typeface="Wingdings" panose="05000000000000000000" pitchFamily="2" charset="2"/>
                </a:rPr>
                <a:t> 6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4813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EB6279-FAC3-D018-567A-93735DD07BE2}"/>
              </a:ext>
            </a:extLst>
          </p:cNvPr>
          <p:cNvSpPr/>
          <p:nvPr/>
        </p:nvSpPr>
        <p:spPr>
          <a:xfrm>
            <a:off x="541605" y="289660"/>
            <a:ext cx="5064370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Predefined Elementary Functions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F3859-B829-12C8-C3D9-F6DEB154F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424" y="1312585"/>
            <a:ext cx="8962466" cy="32340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EDC5E3-4D29-D8F1-102F-61C36D33F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424" y="4838008"/>
            <a:ext cx="8962466" cy="164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15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B352160-5549-10AA-A576-E98A7DFFA50D}"/>
              </a:ext>
            </a:extLst>
          </p:cNvPr>
          <p:cNvSpPr/>
          <p:nvPr/>
        </p:nvSpPr>
        <p:spPr>
          <a:xfrm>
            <a:off x="541605" y="289660"/>
            <a:ext cx="4114801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Operations on Functions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610F94-6D44-A563-E4C2-F5583B449631}"/>
              </a:ext>
            </a:extLst>
          </p:cNvPr>
          <p:cNvSpPr txBox="1"/>
          <p:nvPr/>
        </p:nvSpPr>
        <p:spPr>
          <a:xfrm>
            <a:off x="1420837" y="1223889"/>
            <a:ext cx="93409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We apply some basic operations on built-in functions.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1C943-BCF6-57C2-8A7A-63C572E97265}"/>
              </a:ext>
            </a:extLst>
          </p:cNvPr>
          <p:cNvSpPr txBox="1"/>
          <p:nvPr/>
        </p:nvSpPr>
        <p:spPr>
          <a:xfrm>
            <a:off x="1420837" y="1681591"/>
            <a:ext cx="93409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We store the result in a new function &lt;</a:t>
            </a:r>
            <a:r>
              <a:rPr lang="en-US" sz="2400" dirty="0">
                <a:solidFill>
                  <a:schemeClr val="accent2"/>
                </a:solidFill>
              </a:rPr>
              <a:t>\</a:t>
            </a:r>
            <a:r>
              <a:rPr lang="en-US" sz="2400" dirty="0" err="1">
                <a:solidFill>
                  <a:schemeClr val="accent2"/>
                </a:solidFill>
              </a:rPr>
              <a:t>FuncName</a:t>
            </a:r>
            <a:r>
              <a:rPr lang="en-US" sz="2400" dirty="0">
                <a:solidFill>
                  <a:schemeClr val="bg1"/>
                </a:solidFill>
              </a:rPr>
              <a:t>&gt;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CD0428D-D607-BC85-DA47-014FFC55D9DC}"/>
              </a:ext>
            </a:extLst>
          </p:cNvPr>
          <p:cNvGrpSpPr/>
          <p:nvPr/>
        </p:nvGrpSpPr>
        <p:grpSpPr>
          <a:xfrm>
            <a:off x="1195754" y="2554791"/>
            <a:ext cx="9162757" cy="830997"/>
            <a:chOff x="1420837" y="3165231"/>
            <a:chExt cx="9162757" cy="83099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10F0B01-56A4-21E1-571C-202788436A0E}"/>
                </a:ext>
              </a:extLst>
            </p:cNvPr>
            <p:cNvSpPr/>
            <p:nvPr/>
          </p:nvSpPr>
          <p:spPr>
            <a:xfrm>
              <a:off x="1420837" y="3165231"/>
              <a:ext cx="9087729" cy="8309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DCA8D0-4C47-ACAF-D9AC-A8A40156BA98}"/>
                </a:ext>
              </a:extLst>
            </p:cNvPr>
            <p:cNvSpPr txBox="1"/>
            <p:nvPr/>
          </p:nvSpPr>
          <p:spPr>
            <a:xfrm>
              <a:off x="1608406" y="3276916"/>
              <a:ext cx="89751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600">
                  <a:solidFill>
                    <a:srgbClr val="9F0003"/>
                  </a:solidFill>
                </a:defRPr>
              </a:lvl1pPr>
            </a:lstStyle>
            <a:p>
              <a:r>
                <a:rPr lang="en-US" sz="3200" dirty="0"/>
                <a:t>\</a:t>
              </a:r>
              <a:r>
                <a:rPr lang="en-US" sz="3200" dirty="0" err="1"/>
                <a:t>SUMfunction</a:t>
              </a:r>
              <a:r>
                <a:rPr lang="en-US" sz="3200" dirty="0">
                  <a:solidFill>
                    <a:schemeClr val="tx1"/>
                  </a:solidFill>
                </a:rPr>
                <a:t>{\function1}{\function2}{</a:t>
              </a:r>
              <a:r>
                <a:rPr lang="en-US" sz="3200" dirty="0">
                  <a:solidFill>
                    <a:schemeClr val="accent2"/>
                  </a:solidFill>
                </a:rPr>
                <a:t>\</a:t>
              </a:r>
              <a:r>
                <a:rPr lang="en-US" sz="3200" dirty="0" err="1">
                  <a:solidFill>
                    <a:schemeClr val="accent2"/>
                  </a:solidFill>
                </a:rPr>
                <a:t>FuncName</a:t>
              </a:r>
              <a:r>
                <a:rPr lang="en-US" sz="3200" dirty="0">
                  <a:solidFill>
                    <a:schemeClr val="tx1"/>
                  </a:solidFill>
                </a:rPr>
                <a:t>}</a:t>
              </a: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70FB82-339A-5108-E153-08565405151E}"/>
              </a:ext>
            </a:extLst>
          </p:cNvPr>
          <p:cNvSpPr/>
          <p:nvPr/>
        </p:nvSpPr>
        <p:spPr>
          <a:xfrm>
            <a:off x="1195754" y="3672903"/>
            <a:ext cx="9087729" cy="300925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D57C4-CC74-8256-D00C-81A85B2F4F93}"/>
              </a:ext>
            </a:extLst>
          </p:cNvPr>
          <p:cNvSpPr txBox="1"/>
          <p:nvPr/>
        </p:nvSpPr>
        <p:spPr>
          <a:xfrm>
            <a:off x="1467731" y="3838217"/>
            <a:ext cx="8618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>
                <a:solidFill>
                  <a:srgbClr val="9F0003"/>
                </a:solidFill>
              </a:defRPr>
            </a:lvl1pPr>
          </a:lstStyle>
          <a:p>
            <a:r>
              <a:rPr lang="en-US" sz="2800" dirty="0"/>
              <a:t>\</a:t>
            </a:r>
            <a:r>
              <a:rPr lang="en-US" sz="2800" dirty="0" err="1"/>
              <a:t>SUMfunction</a:t>
            </a:r>
            <a:r>
              <a:rPr lang="en-US" sz="2800" dirty="0">
                <a:solidFill>
                  <a:schemeClr val="tx1"/>
                </a:solidFill>
              </a:rPr>
              <a:t>{</a:t>
            </a:r>
            <a:r>
              <a:rPr lang="en-US" sz="2800" dirty="0">
                <a:solidFill>
                  <a:schemeClr val="accent1"/>
                </a:solidFill>
              </a:rPr>
              <a:t>\</a:t>
            </a:r>
            <a:r>
              <a:rPr lang="en-US" sz="2800" dirty="0" err="1">
                <a:solidFill>
                  <a:schemeClr val="accent1"/>
                </a:solidFill>
              </a:rPr>
              <a:t>SQRTfunction</a:t>
            </a:r>
            <a:r>
              <a:rPr lang="en-US" sz="2800" dirty="0">
                <a:solidFill>
                  <a:schemeClr val="tx1"/>
                </a:solidFill>
              </a:rPr>
              <a:t>}{</a:t>
            </a:r>
            <a:r>
              <a:rPr lang="en-US" sz="2800" dirty="0">
                <a:solidFill>
                  <a:schemeClr val="accent1"/>
                </a:solidFill>
              </a:rPr>
              <a:t>\</a:t>
            </a:r>
            <a:r>
              <a:rPr lang="en-US" sz="2800" dirty="0" err="1">
                <a:solidFill>
                  <a:schemeClr val="accent1"/>
                </a:solidFill>
              </a:rPr>
              <a:t>SINfunction</a:t>
            </a:r>
            <a:r>
              <a:rPr lang="en-US" sz="2800" dirty="0">
                <a:solidFill>
                  <a:schemeClr val="tx1"/>
                </a:solidFill>
              </a:rPr>
              <a:t>}{</a:t>
            </a:r>
            <a:r>
              <a:rPr lang="en-US" sz="2800" dirty="0">
                <a:solidFill>
                  <a:schemeClr val="accent2"/>
                </a:solidFill>
              </a:rPr>
              <a:t>\</a:t>
            </a:r>
            <a:r>
              <a:rPr lang="en-US" sz="2800" dirty="0" err="1">
                <a:solidFill>
                  <a:schemeClr val="accent2"/>
                </a:solidFill>
              </a:rPr>
              <a:t>FuncName</a:t>
            </a:r>
            <a:r>
              <a:rPr lang="en-US" sz="2800" dirty="0">
                <a:solidFill>
                  <a:schemeClr val="tx1"/>
                </a:solidFill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CE9C63-2726-800A-F554-9E1E3140A787}"/>
                  </a:ext>
                </a:extLst>
              </p:cNvPr>
              <p:cNvSpPr txBox="1"/>
              <p:nvPr/>
            </p:nvSpPr>
            <p:spPr>
              <a:xfrm>
                <a:off x="1448973" y="4729723"/>
                <a:ext cx="8370277" cy="613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chemeClr val="accent2"/>
                    </a:solidFill>
                  </a:rPr>
                  <a:t>\</a:t>
                </a:r>
                <a:r>
                  <a:rPr lang="en-US" sz="3200" dirty="0" err="1">
                    <a:solidFill>
                      <a:schemeClr val="accent2"/>
                    </a:solidFill>
                  </a:rPr>
                  <a:t>FuncName</a:t>
                </a:r>
                <a:r>
                  <a:rPr lang="en-US" sz="3200" dirty="0">
                    <a:solidFill>
                      <a:schemeClr val="accent2"/>
                    </a:solidFill>
                  </a:rPr>
                  <a:t> </a:t>
                </a:r>
                <a:r>
                  <a:rPr lang="en-US" sz="3200" dirty="0"/>
                  <a:t>is defined as </a:t>
                </a:r>
                <a:r>
                  <a:rPr lang="en-US" sz="32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</m:rad>
                    <m:r>
                      <a:rPr lang="en-US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sin</m:t>
                        </m:r>
                      </m:fName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</m:func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CE9C63-2726-800A-F554-9E1E3140A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973" y="4729723"/>
                <a:ext cx="8370277" cy="613373"/>
              </a:xfrm>
              <a:prstGeom prst="rect">
                <a:avLst/>
              </a:prstGeom>
              <a:blipFill>
                <a:blip r:embed="rId2"/>
                <a:stretch>
                  <a:fillRect l="-1894" t="-10000"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DC3C77-5493-7B72-50D7-3445BF492463}"/>
              </a:ext>
            </a:extLst>
          </p:cNvPr>
          <p:cNvCxnSpPr/>
          <p:nvPr/>
        </p:nvCxnSpPr>
        <p:spPr>
          <a:xfrm>
            <a:off x="1195754" y="4572456"/>
            <a:ext cx="9087729" cy="0"/>
          </a:xfrm>
          <a:prstGeom prst="line">
            <a:avLst/>
          </a:prstGeom>
          <a:ln w="57150">
            <a:solidFill>
              <a:srgbClr val="7074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6694BB-4EC1-06E0-CA07-7A4D91AF8880}"/>
              </a:ext>
            </a:extLst>
          </p:cNvPr>
          <p:cNvCxnSpPr>
            <a:cxnSpLocks/>
          </p:cNvCxnSpPr>
          <p:nvPr/>
        </p:nvCxnSpPr>
        <p:spPr>
          <a:xfrm>
            <a:off x="2363370" y="5362294"/>
            <a:ext cx="0" cy="3913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4E2322A-A437-881F-4FC0-AD9B98380D31}"/>
              </a:ext>
            </a:extLst>
          </p:cNvPr>
          <p:cNvSpPr txBox="1"/>
          <p:nvPr/>
        </p:nvSpPr>
        <p:spPr>
          <a:xfrm>
            <a:off x="1463037" y="5767117"/>
            <a:ext cx="5022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\</a:t>
            </a:r>
            <a:r>
              <a:rPr lang="en-US" sz="2800" dirty="0" err="1">
                <a:solidFill>
                  <a:schemeClr val="accent2"/>
                </a:solidFill>
              </a:rPr>
              <a:t>FuncName</a:t>
            </a:r>
            <a:r>
              <a:rPr lang="en-US" sz="2800" dirty="0"/>
              <a:t>{4}{\</a:t>
            </a:r>
            <a:r>
              <a:rPr lang="en-US" sz="2800" dirty="0" err="1"/>
              <a:t>Fsol</a:t>
            </a:r>
            <a:r>
              <a:rPr lang="en-US" sz="2800" dirty="0"/>
              <a:t>}{\</a:t>
            </a:r>
            <a:r>
              <a:rPr lang="en-US" sz="2800" dirty="0" err="1"/>
              <a:t>DFsol</a:t>
            </a:r>
            <a:r>
              <a:rPr lang="en-US" sz="2800" dirty="0"/>
              <a:t>}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F775752-4DFA-8EEE-6DA4-A1501B362F0B}"/>
              </a:ext>
            </a:extLst>
          </p:cNvPr>
          <p:cNvCxnSpPr>
            <a:cxnSpLocks/>
          </p:cNvCxnSpPr>
          <p:nvPr/>
        </p:nvCxnSpPr>
        <p:spPr>
          <a:xfrm>
            <a:off x="5922495" y="6028727"/>
            <a:ext cx="78779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6EA416-7523-CA76-2E3E-3C8EBFA2C536}"/>
                  </a:ext>
                </a:extLst>
              </p:cNvPr>
              <p:cNvSpPr txBox="1"/>
              <p:nvPr/>
            </p:nvSpPr>
            <p:spPr>
              <a:xfrm>
                <a:off x="6808759" y="5557991"/>
                <a:ext cx="3348111" cy="1041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\</a:t>
                </a:r>
                <a:r>
                  <a:rPr lang="en-US" sz="2400" dirty="0" err="1"/>
                  <a:t>Fsol</a:t>
                </a:r>
                <a:r>
                  <a:rPr lang="en-US" sz="2400" dirty="0"/>
                  <a:t>   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e>
                    </m:rad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sin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e>
                    </m:func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\</a:t>
                </a:r>
                <a:r>
                  <a:rPr lang="en-US" sz="2400" dirty="0" err="1"/>
                  <a:t>Dfsol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6EA416-7523-CA76-2E3E-3C8EBFA2C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759" y="5557991"/>
                <a:ext cx="3348111" cy="1041824"/>
              </a:xfrm>
              <a:prstGeom prst="rect">
                <a:avLst/>
              </a:prstGeom>
              <a:blipFill>
                <a:blip r:embed="rId3"/>
                <a:stretch>
                  <a:fillRect l="-2550" t="-1170" b="-2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308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 animBg="1"/>
      <p:bldP spid="11" grpId="0"/>
      <p:bldP spid="12" grpId="0"/>
      <p:bldP spid="19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D8A6CC-11C3-FEDC-1FC6-1641C0C1F2DE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385568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6281</TotalTime>
  <Words>584</Words>
  <Application>Microsoft Office PowerPoint</Application>
  <PresentationFormat>Widescreen</PresentationFormat>
  <Paragraphs>83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64</cp:revision>
  <dcterms:created xsi:type="dcterms:W3CDTF">2023-12-11T12:09:39Z</dcterms:created>
  <dcterms:modified xsi:type="dcterms:W3CDTF">2023-12-19T10:54:30Z</dcterms:modified>
</cp:coreProperties>
</file>